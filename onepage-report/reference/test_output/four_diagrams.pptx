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69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A4E587-2461-A0EC-36F6-4C6D8A7DE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63617F-72AF-5F40-817D-6D2F36CBD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TW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AFE9ED-B8E8-229C-8297-4BAF30D20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7133-BAC0-4545-82AE-8FBB6E8B9357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09BF3-79B4-5190-6624-4E6111AB9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B140C2-F495-35F5-F96C-F4751578E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32C85-4033-4B7A-9CC8-7A82FC4C62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668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516968-F616-2830-5A13-0BD20A2E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89A402-A7B2-6F49-2569-5EB9B33B8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A07D2A-76EC-E52C-BC0A-FF8443CDA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7133-BAC0-4545-82AE-8FBB6E8B9357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9350CF-DEDD-FE4C-E622-556681FDD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F5F298-4555-10BC-FB44-07D5B5EBF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32C85-4033-4B7A-9CC8-7A82FC4C62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8315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C36B42-7C41-C6C5-1EBB-801B57F37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D27907-4B59-A157-C1D5-F8D76FBB2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6E77F-0AB6-9507-8F78-2C5EDCD60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7133-BAC0-4545-82AE-8FBB6E8B9357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41E08B-FD39-01D0-B00D-63863B1E8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E368A1-6A60-820E-6D68-1F9E6864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32C85-4033-4B7A-9CC8-7A82FC4C62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5232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30FF3-4CAC-A5FE-3AF5-56CF997A1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0C267A-339D-507D-8AA9-8C42EFCB6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88D4CC-8CDC-2E80-051D-7D0BAEBD7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975FDC-787E-80F1-AA60-70E5A3FE0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7133-BAC0-4545-82AE-8FBB6E8B9357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4A4E97-7471-AB2F-4C82-B6E7A0853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9EF04D-75BA-5A79-70FE-89BE32094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32C85-4033-4B7A-9CC8-7A82FC4C62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323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B645E-8CC8-684B-C3B6-6C71E368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2F7917-1D08-28D5-6E47-CA3E9CE83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DF1DAB-9D01-27BD-9866-AE760F502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194358-4C5F-4C87-1EE9-D006ED9C4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AB14CA8-E74C-8A0C-780C-C8B15B7CF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EBE83E3-97F0-9648-1EC0-DFEA3684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7133-BAC0-4545-82AE-8FBB6E8B9357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2AAE89F-EB24-935D-FE70-7F3F51DA1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DADADA-1EE2-C806-8B44-DDF23C006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32C85-4033-4B7A-9CC8-7A82FC4C62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0943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DA6411-B759-9799-FD50-B3AD858CE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23A8946-7E46-BB0E-434D-257F3D2D3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7133-BAC0-4545-82AE-8FBB6E8B9357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E033BF-C8D5-FC3D-0397-70417E904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C9C809-9AD9-EA52-6599-7EFC83E4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32C85-4033-4B7A-9CC8-7A82FC4C62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1033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C472BD-E2AC-8E8E-47BA-39E49239B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7133-BAC0-4545-82AE-8FBB6E8B9357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B90723-4B1C-7976-FDAD-DB9CA5C3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AE0667-1F77-3AB0-23D6-14A77A638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32C85-4033-4B7A-9CC8-7A82FC4C62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0609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4601B3-D1AF-7B6F-6ED0-4C412FD54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D341C-DA7A-8313-6533-6787437ED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A23C51-1D98-D338-F6C0-96C403703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D9A720-3858-41D3-7AE3-58DF5BB8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7133-BAC0-4545-82AE-8FBB6E8B9357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ABA70E-FBD1-32C4-D68B-617A0ED3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6D5A2C-B00C-8CC0-BD7C-A449420E3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32C85-4033-4B7A-9CC8-7A82FC4C62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01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A777CD-6E91-65E8-6C61-FD21270D0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9F730F2-68FB-5F08-B12E-493D0E2C76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478A82-ABD6-274A-93E8-C5897550D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6612A1-914C-5208-ACC2-E11FCE18B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7133-BAC0-4545-82AE-8FBB6E8B9357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D38EA2-0DA7-2118-4701-FF9DC543B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B5E5BC-B8C8-426A-12C5-FFCFF6E2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32C85-4033-4B7A-9CC8-7A82FC4C62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144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42AEE-B60A-A8F7-AA30-DC5AAC2F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CD4DF9-6D36-3057-69DE-46163994C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D16710-A173-3E3C-9B81-50F9FBBA7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7133-BAC0-4545-82AE-8FBB6E8B9357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5D0C30-B204-AF91-6BD7-C35486BA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35B6C1-7DC5-1E27-1951-A101642BE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32C85-4033-4B7A-9CC8-7A82FC4C62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036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37BF53-76E6-EE9B-851A-A90CB6B3F3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F468CB-30A7-6A30-237C-4C61E34BE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395474-133C-26C8-B2E9-B43BDDC9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7133-BAC0-4545-82AE-8FBB6E8B9357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082FC0-2E23-754F-B591-E165628B1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DD60B5-7189-F6A6-1FF4-1B75E57FB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32C85-4033-4B7A-9CC8-7A82FC4C62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1134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D0420D-9AD4-E648-2352-7C120ED8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818171-14C9-790F-6B46-EFD466DEE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4E5C02-8661-DD91-50AE-0A3F7D07EC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D87133-BAC0-4545-82AE-8FBB6E8B9357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E9B1DA-F30F-AC72-2A9A-1DD49C571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4EBB6B-9782-466B-3B85-9CAC4E23F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432C85-4033-4B7A-9CC8-7A82FC4C62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819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BA9AB85-541F-4358-11DE-649ACC5EEC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9E6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24F59E-4231-6C50-B897-A5573F135EA1}"/>
              </a:ext>
            </a:extLst>
          </p:cNvPr>
          <p:cNvSpPr txBox="1"/>
          <p:nvPr/>
        </p:nvSpPr>
        <p:spPr>
          <a:xfrm>
            <a:off x="254000" y="127000"/>
            <a:ext cx="11684000" cy="32316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TW" sz="1600" b="1">
                <a:solidFill>
                  <a:srgbClr val="333333"/>
                </a:solidFill>
                <a:latin typeface="Microsoft JhengHei" panose="020B0604030504040204" pitchFamily="34" charset="-120"/>
              </a:rPr>
              <a:t>Anti-Lag </a:t>
            </a:r>
            <a:r>
              <a:rPr lang="zh-TW" altLang="en-US" sz="1600" b="1">
                <a:solidFill>
                  <a:srgbClr val="333333"/>
                </a:solidFill>
                <a:latin typeface="Microsoft JhengHei" panose="020B0604030504040204" pitchFamily="34" charset="-120"/>
              </a:rPr>
              <a:t>技術概覽 </a:t>
            </a:r>
            <a:r>
              <a:rPr lang="en-US" altLang="zh-TW" sz="1600" b="1">
                <a:solidFill>
                  <a:srgbClr val="333333"/>
                </a:solidFill>
                <a:latin typeface="Microsoft JhengHei" panose="020B0604030504040204" pitchFamily="34" charset="-120"/>
              </a:rPr>
              <a:t>- </a:t>
            </a:r>
            <a:r>
              <a:rPr lang="zh-TW" altLang="en-US" sz="1600" b="1">
                <a:solidFill>
                  <a:srgbClr val="333333"/>
                </a:solidFill>
                <a:latin typeface="Microsoft JhengHei" panose="020B0604030504040204" pitchFamily="34" charset="-120"/>
              </a:rPr>
              <a:t>四張圖表展示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3D8B84-5435-6DE6-7CF0-06955F18BE0C}"/>
              </a:ext>
            </a:extLst>
          </p:cNvPr>
          <p:cNvSpPr/>
          <p:nvPr/>
        </p:nvSpPr>
        <p:spPr>
          <a:xfrm>
            <a:off x="254000" y="571500"/>
            <a:ext cx="2628900" cy="2940050"/>
          </a:xfrm>
          <a:prstGeom prst="rect">
            <a:avLst/>
          </a:prstGeom>
          <a:solidFill>
            <a:srgbClr val="F5F5F5"/>
          </a:solidFill>
          <a:ln w="19050">
            <a:solidFill>
              <a:srgbClr val="F44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C646BA-0009-DEFA-E77B-E154ABEB522B}"/>
              </a:ext>
            </a:extLst>
          </p:cNvPr>
          <p:cNvSpPr txBox="1"/>
          <p:nvPr/>
        </p:nvSpPr>
        <p:spPr>
          <a:xfrm>
            <a:off x="330200" y="622300"/>
            <a:ext cx="2476500" cy="292388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TW" altLang="en-US" sz="1400" b="1">
                <a:solidFill>
                  <a:srgbClr val="F44336"/>
                </a:solidFill>
                <a:latin typeface="Microsoft JhengHei" panose="020B0604030504040204" pitchFamily="34" charset="-120"/>
              </a:rPr>
              <a:t>改善前：延遲</a:t>
            </a:r>
            <a:r>
              <a:rPr lang="en-US" altLang="zh-TW" sz="1400" b="1">
                <a:solidFill>
                  <a:srgbClr val="F44336"/>
                </a:solidFill>
                <a:latin typeface="Microsoft JhengHei" panose="020B0604030504040204" pitchFamily="34" charset="-120"/>
              </a:rPr>
              <a:t>50-66ms</a:t>
            </a:r>
            <a:endParaRPr lang="zh-TW" altLang="en-US" sz="1400" b="1">
              <a:solidFill>
                <a:srgbClr val="F44336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D2A992A-5D13-DF5C-EF13-8FD96235DAD4}"/>
              </a:ext>
            </a:extLst>
          </p:cNvPr>
          <p:cNvSpPr/>
          <p:nvPr/>
        </p:nvSpPr>
        <p:spPr>
          <a:xfrm>
            <a:off x="679450" y="1028700"/>
            <a:ext cx="1778000" cy="556683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2F4108-3425-941F-5FF1-20BBF43DF9D5}"/>
              </a:ext>
            </a:extLst>
          </p:cNvPr>
          <p:cNvSpPr txBox="1"/>
          <p:nvPr/>
        </p:nvSpPr>
        <p:spPr>
          <a:xfrm>
            <a:off x="730250" y="1079500"/>
            <a:ext cx="80010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CPU </a:t>
            </a:r>
            <a:r>
              <a:rPr lang="zh-TW" altLang="en-US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準備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0F28436-3D3D-DD15-08B5-61B0CA0CE730}"/>
              </a:ext>
            </a:extLst>
          </p:cNvPr>
          <p:cNvSpPr txBox="1"/>
          <p:nvPr/>
        </p:nvSpPr>
        <p:spPr>
          <a:xfrm>
            <a:off x="1568450" y="1079500"/>
            <a:ext cx="8001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TW" altLang="en-US" sz="800">
                <a:solidFill>
                  <a:srgbClr val="FFFFFF"/>
                </a:solidFill>
                <a:latin typeface="Microsoft JhengHei" panose="020B0604030504040204" pitchFamily="34" charset="-120"/>
              </a:rPr>
              <a:t>快速產生畫面</a:t>
            </a: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464C2BE7-925F-DE06-AA34-CCCFF3E90C92}"/>
              </a:ext>
            </a:extLst>
          </p:cNvPr>
          <p:cNvSpPr/>
          <p:nvPr/>
        </p:nvSpPr>
        <p:spPr>
          <a:xfrm>
            <a:off x="1492250" y="1686983"/>
            <a:ext cx="152400" cy="152400"/>
          </a:xfrm>
          <a:prstGeom prst="downArrow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101F974-B56E-9C9E-40F3-E04E7A0037A3}"/>
              </a:ext>
            </a:extLst>
          </p:cNvPr>
          <p:cNvSpPr/>
          <p:nvPr/>
        </p:nvSpPr>
        <p:spPr>
          <a:xfrm>
            <a:off x="679450" y="1940983"/>
            <a:ext cx="1778000" cy="556684"/>
          </a:xfrm>
          <a:prstGeom prst="roundRect">
            <a:avLst/>
          </a:prstGeom>
          <a:solidFill>
            <a:srgbClr val="FFFFFF"/>
          </a:solidFill>
          <a:ln w="25400" cap="sq">
            <a:solidFill>
              <a:srgbClr val="2196F3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26747EC-09E0-C17B-852E-202FC2683FFF}"/>
              </a:ext>
            </a:extLst>
          </p:cNvPr>
          <p:cNvSpPr txBox="1"/>
          <p:nvPr/>
        </p:nvSpPr>
        <p:spPr>
          <a:xfrm>
            <a:off x="730250" y="1991783"/>
            <a:ext cx="800100" cy="353943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2196F3"/>
                </a:solidFill>
                <a:latin typeface="Microsoft JhengHei" panose="020B0604030504040204" pitchFamily="34" charset="-120"/>
              </a:rPr>
              <a:t>Frame Queue</a:t>
            </a:r>
            <a:endParaRPr lang="zh-TW" altLang="en-US" sz="900" b="1">
              <a:solidFill>
                <a:srgbClr val="2196F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EA6C60-33E7-E251-F05E-431027BEA293}"/>
              </a:ext>
            </a:extLst>
          </p:cNvPr>
          <p:cNvSpPr txBox="1"/>
          <p:nvPr/>
        </p:nvSpPr>
        <p:spPr>
          <a:xfrm>
            <a:off x="1568450" y="1991783"/>
            <a:ext cx="8001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TW" altLang="en-US" sz="800">
                <a:solidFill>
                  <a:srgbClr val="2196F3"/>
                </a:solidFill>
                <a:latin typeface="Microsoft JhengHei" panose="020B0604030504040204" pitchFamily="34" charset="-120"/>
              </a:rPr>
              <a:t>排了</a:t>
            </a:r>
            <a:r>
              <a:rPr lang="en-US" altLang="zh-TW" sz="800">
                <a:solidFill>
                  <a:srgbClr val="2196F3"/>
                </a:solidFill>
                <a:latin typeface="Microsoft JhengHei" panose="020B0604030504040204" pitchFamily="34" charset="-120"/>
              </a:rPr>
              <a:t>3-4</a:t>
            </a:r>
            <a:r>
              <a:rPr lang="zh-TW" altLang="en-US" sz="800">
                <a:solidFill>
                  <a:srgbClr val="2196F3"/>
                </a:solidFill>
                <a:latin typeface="Microsoft JhengHei" panose="020B0604030504040204" pitchFamily="34" charset="-120"/>
              </a:rPr>
              <a:t>幀</a:t>
            </a: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BCE6B62-DE57-A6B2-B821-B7B10AC3EFBE}"/>
              </a:ext>
            </a:extLst>
          </p:cNvPr>
          <p:cNvSpPr/>
          <p:nvPr/>
        </p:nvSpPr>
        <p:spPr>
          <a:xfrm>
            <a:off x="1492250" y="2599267"/>
            <a:ext cx="152400" cy="152400"/>
          </a:xfrm>
          <a:prstGeom prst="downArrow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F98DA49-74AA-C887-A27B-7A7D5E3E9F50}"/>
              </a:ext>
            </a:extLst>
          </p:cNvPr>
          <p:cNvSpPr/>
          <p:nvPr/>
        </p:nvSpPr>
        <p:spPr>
          <a:xfrm>
            <a:off x="679450" y="2853267"/>
            <a:ext cx="1778000" cy="556683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12C266-9AE6-E050-6DA7-6B41A31FCC60}"/>
              </a:ext>
            </a:extLst>
          </p:cNvPr>
          <p:cNvSpPr txBox="1"/>
          <p:nvPr/>
        </p:nvSpPr>
        <p:spPr>
          <a:xfrm>
            <a:off x="730250" y="2904067"/>
            <a:ext cx="80010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GPU </a:t>
            </a:r>
            <a:r>
              <a:rPr lang="zh-TW" altLang="en-US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繪圖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1B65A5A-2844-123A-1FF2-DEA3F07F3AF8}"/>
              </a:ext>
            </a:extLst>
          </p:cNvPr>
          <p:cNvSpPr txBox="1"/>
          <p:nvPr/>
        </p:nvSpPr>
        <p:spPr>
          <a:xfrm>
            <a:off x="1568450" y="2904067"/>
            <a:ext cx="8001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TW" altLang="en-US" sz="800">
                <a:solidFill>
                  <a:srgbClr val="FFFFFF"/>
                </a:solidFill>
                <a:latin typeface="Microsoft JhengHei" panose="020B0604030504040204" pitchFamily="34" charset="-120"/>
              </a:rPr>
              <a:t>渲染畫面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16210D-5328-308A-FE38-2DAE61F4D1D4}"/>
              </a:ext>
            </a:extLst>
          </p:cNvPr>
          <p:cNvSpPr/>
          <p:nvPr/>
        </p:nvSpPr>
        <p:spPr>
          <a:xfrm>
            <a:off x="3390900" y="571500"/>
            <a:ext cx="2628900" cy="2940050"/>
          </a:xfrm>
          <a:prstGeom prst="rect">
            <a:avLst/>
          </a:prstGeom>
          <a:solidFill>
            <a:srgbClr val="F5F5F5"/>
          </a:solidFill>
          <a:ln w="19050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7E51BB0-DDB7-8E36-A0C5-2A0559A82541}"/>
              </a:ext>
            </a:extLst>
          </p:cNvPr>
          <p:cNvSpPr txBox="1"/>
          <p:nvPr/>
        </p:nvSpPr>
        <p:spPr>
          <a:xfrm>
            <a:off x="3467100" y="622300"/>
            <a:ext cx="2476500" cy="292388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TW" altLang="en-US" sz="1400" b="1">
                <a:solidFill>
                  <a:srgbClr val="4CAF50"/>
                </a:solidFill>
                <a:latin typeface="Microsoft JhengHei" panose="020B0604030504040204" pitchFamily="34" charset="-120"/>
              </a:rPr>
              <a:t>改善後：延遲</a:t>
            </a:r>
            <a:r>
              <a:rPr lang="en-US" altLang="zh-TW" sz="1400" b="1">
                <a:solidFill>
                  <a:srgbClr val="4CAF50"/>
                </a:solidFill>
                <a:latin typeface="Microsoft JhengHei" panose="020B0604030504040204" pitchFamily="34" charset="-120"/>
              </a:rPr>
              <a:t>16ms</a:t>
            </a:r>
            <a:endParaRPr lang="zh-TW" altLang="en-US" sz="1400" b="1">
              <a:solidFill>
                <a:srgbClr val="4CAF50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7DCB779-6A05-F8C7-2A0A-56848B9D8731}"/>
              </a:ext>
            </a:extLst>
          </p:cNvPr>
          <p:cNvSpPr/>
          <p:nvPr/>
        </p:nvSpPr>
        <p:spPr>
          <a:xfrm>
            <a:off x="3816350" y="1028700"/>
            <a:ext cx="1778000" cy="556683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B86369-1E6A-AF0C-E64C-D3C8498E3879}"/>
              </a:ext>
            </a:extLst>
          </p:cNvPr>
          <p:cNvSpPr txBox="1"/>
          <p:nvPr/>
        </p:nvSpPr>
        <p:spPr>
          <a:xfrm>
            <a:off x="3867150" y="1079500"/>
            <a:ext cx="80010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CPU </a:t>
            </a:r>
            <a:r>
              <a:rPr lang="zh-TW" altLang="en-US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準備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989482-93CD-BD1B-BF97-AB473B0F767A}"/>
              </a:ext>
            </a:extLst>
          </p:cNvPr>
          <p:cNvSpPr txBox="1"/>
          <p:nvPr/>
        </p:nvSpPr>
        <p:spPr>
          <a:xfrm>
            <a:off x="4705350" y="1079500"/>
            <a:ext cx="8001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TW" sz="800">
                <a:solidFill>
                  <a:srgbClr val="FFFFFF"/>
                </a:solidFill>
                <a:latin typeface="Microsoft JhengHei" panose="020B0604030504040204" pitchFamily="34" charset="-120"/>
              </a:rPr>
              <a:t>SDK </a:t>
            </a:r>
            <a:r>
              <a:rPr lang="zh-TW" altLang="en-US" sz="800">
                <a:solidFill>
                  <a:srgbClr val="FFFFFF"/>
                </a:solidFill>
                <a:latin typeface="Microsoft JhengHei" panose="020B0604030504040204" pitchFamily="34" charset="-120"/>
              </a:rPr>
              <a:t>控制節奏</a:t>
            </a: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70659671-9E5B-84C3-406F-CBC35272D8D8}"/>
              </a:ext>
            </a:extLst>
          </p:cNvPr>
          <p:cNvSpPr/>
          <p:nvPr/>
        </p:nvSpPr>
        <p:spPr>
          <a:xfrm>
            <a:off x="4629150" y="1686983"/>
            <a:ext cx="152400" cy="152400"/>
          </a:xfrm>
          <a:prstGeom prst="downArrow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65CFE4F-D5B6-4D99-5111-8EAF29138D97}"/>
              </a:ext>
            </a:extLst>
          </p:cNvPr>
          <p:cNvSpPr/>
          <p:nvPr/>
        </p:nvSpPr>
        <p:spPr>
          <a:xfrm>
            <a:off x="3816350" y="1940983"/>
            <a:ext cx="1778000" cy="556684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1DC6BA9-C769-BDF9-572D-C7B92A81B573}"/>
              </a:ext>
            </a:extLst>
          </p:cNvPr>
          <p:cNvSpPr txBox="1"/>
          <p:nvPr/>
        </p:nvSpPr>
        <p:spPr>
          <a:xfrm>
            <a:off x="3867150" y="1991783"/>
            <a:ext cx="800100" cy="353943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Frame Queue</a:t>
            </a:r>
            <a:endParaRPr lang="zh-TW" altLang="en-US" sz="90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CD3D511-B87A-7D88-2265-458882321DA7}"/>
              </a:ext>
            </a:extLst>
          </p:cNvPr>
          <p:cNvSpPr txBox="1"/>
          <p:nvPr/>
        </p:nvSpPr>
        <p:spPr>
          <a:xfrm>
            <a:off x="4705350" y="1991783"/>
            <a:ext cx="8001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TW" altLang="en-US" sz="800">
                <a:solidFill>
                  <a:srgbClr val="FFFFFF"/>
                </a:solidFill>
                <a:latin typeface="Microsoft JhengHei" panose="020B0604030504040204" pitchFamily="34" charset="-120"/>
              </a:rPr>
              <a:t>只有</a:t>
            </a:r>
            <a:r>
              <a:rPr lang="en-US" altLang="zh-TW" sz="800">
                <a:solidFill>
                  <a:srgbClr val="FFFFFF"/>
                </a:solidFill>
                <a:latin typeface="Microsoft JhengHei" panose="020B0604030504040204" pitchFamily="34" charset="-120"/>
              </a:rPr>
              <a:t>1</a:t>
            </a:r>
            <a:r>
              <a:rPr lang="zh-TW" altLang="en-US" sz="800">
                <a:solidFill>
                  <a:srgbClr val="FFFFFF"/>
                </a:solidFill>
                <a:latin typeface="Microsoft JhengHei" panose="020B0604030504040204" pitchFamily="34" charset="-120"/>
              </a:rPr>
              <a:t>幀</a:t>
            </a:r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F3ADFBCF-0CFD-8CC6-B8A7-8B93B8CAD303}"/>
              </a:ext>
            </a:extLst>
          </p:cNvPr>
          <p:cNvSpPr/>
          <p:nvPr/>
        </p:nvSpPr>
        <p:spPr>
          <a:xfrm>
            <a:off x="4629150" y="2599267"/>
            <a:ext cx="152400" cy="152400"/>
          </a:xfrm>
          <a:prstGeom prst="downArrow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25CE67D-7C43-B42D-2593-86CFCFFBDE30}"/>
              </a:ext>
            </a:extLst>
          </p:cNvPr>
          <p:cNvSpPr/>
          <p:nvPr/>
        </p:nvSpPr>
        <p:spPr>
          <a:xfrm>
            <a:off x="3816350" y="2853267"/>
            <a:ext cx="1778000" cy="556683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79BEEF5-8D0D-8205-EFF2-DA15692B044C}"/>
              </a:ext>
            </a:extLst>
          </p:cNvPr>
          <p:cNvSpPr txBox="1"/>
          <p:nvPr/>
        </p:nvSpPr>
        <p:spPr>
          <a:xfrm>
            <a:off x="3867150" y="2904067"/>
            <a:ext cx="80010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GPU </a:t>
            </a:r>
            <a:r>
              <a:rPr lang="zh-TW" altLang="en-US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繪圖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1CDBE36-D8D7-E3A9-9D0B-23A98891E9E9}"/>
              </a:ext>
            </a:extLst>
          </p:cNvPr>
          <p:cNvSpPr txBox="1"/>
          <p:nvPr/>
        </p:nvSpPr>
        <p:spPr>
          <a:xfrm>
            <a:off x="4705350" y="2904067"/>
            <a:ext cx="8001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TW" altLang="en-US" sz="800">
                <a:solidFill>
                  <a:srgbClr val="FFFFFF"/>
                </a:solidFill>
                <a:latin typeface="Microsoft JhengHei" panose="020B0604030504040204" pitchFamily="34" charset="-120"/>
              </a:rPr>
              <a:t>最新畫面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82391C1-EB7D-E6F0-14FE-C355BC28241B}"/>
              </a:ext>
            </a:extLst>
          </p:cNvPr>
          <p:cNvCxnSpPr/>
          <p:nvPr/>
        </p:nvCxnSpPr>
        <p:spPr>
          <a:xfrm>
            <a:off x="3009900" y="2041525"/>
            <a:ext cx="254000" cy="0"/>
          </a:xfrm>
          <a:prstGeom prst="line">
            <a:avLst/>
          </a:prstGeom>
          <a:ln w="19050" cap="sq">
            <a:solidFill>
              <a:srgbClr val="2196F3"/>
            </a:solidFill>
            <a:prstDash val="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4092A59-EA9D-2F90-28DC-9BB20461C066}"/>
              </a:ext>
            </a:extLst>
          </p:cNvPr>
          <p:cNvSpPr txBox="1"/>
          <p:nvPr/>
        </p:nvSpPr>
        <p:spPr>
          <a:xfrm>
            <a:off x="2501900" y="1787525"/>
            <a:ext cx="1270000" cy="2308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1000" b="1">
                <a:solidFill>
                  <a:srgbClr val="2196F3"/>
                </a:solidFill>
                <a:latin typeface="Microsoft JhengHei" panose="020B0604030504040204" pitchFamily="34" charset="-120"/>
              </a:rPr>
              <a:t>導入 </a:t>
            </a:r>
            <a:r>
              <a:rPr lang="en-US" altLang="zh-TW" sz="1000" b="1">
                <a:solidFill>
                  <a:srgbClr val="2196F3"/>
                </a:solidFill>
                <a:latin typeface="Microsoft JhengHei" panose="020B0604030504040204" pitchFamily="34" charset="-120"/>
              </a:rPr>
              <a:t>SDK</a:t>
            </a:r>
            <a:endParaRPr lang="zh-TW" altLang="en-US" sz="1000" b="1">
              <a:solidFill>
                <a:srgbClr val="2196F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4F602B8-F08C-CB24-E0C7-BE946C5AC407}"/>
              </a:ext>
            </a:extLst>
          </p:cNvPr>
          <p:cNvSpPr/>
          <p:nvPr/>
        </p:nvSpPr>
        <p:spPr>
          <a:xfrm>
            <a:off x="6172200" y="571500"/>
            <a:ext cx="5765800" cy="1343025"/>
          </a:xfrm>
          <a:prstGeom prst="rect">
            <a:avLst/>
          </a:prstGeom>
          <a:solidFill>
            <a:srgbClr val="F5F5F5"/>
          </a:solidFill>
          <a:ln w="19050">
            <a:solidFill>
              <a:srgbClr val="2196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8E3CB80-FA5D-8706-48C9-D48C77955A79}"/>
              </a:ext>
            </a:extLst>
          </p:cNvPr>
          <p:cNvSpPr txBox="1"/>
          <p:nvPr/>
        </p:nvSpPr>
        <p:spPr>
          <a:xfrm>
            <a:off x="6248400" y="622300"/>
            <a:ext cx="5613400" cy="292388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TW" sz="1400" b="1">
                <a:solidFill>
                  <a:srgbClr val="2196F3"/>
                </a:solidFill>
                <a:latin typeface="Microsoft JhengHei" panose="020B0604030504040204" pitchFamily="34" charset="-120"/>
              </a:rPr>
              <a:t>PC: Windows 11 + Anti-Lag</a:t>
            </a:r>
            <a:endParaRPr lang="zh-TW" altLang="en-US" sz="1400" b="1">
              <a:solidFill>
                <a:srgbClr val="2196F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89460D1-1B2E-3526-253B-21E9B0952EE8}"/>
              </a:ext>
            </a:extLst>
          </p:cNvPr>
          <p:cNvSpPr/>
          <p:nvPr/>
        </p:nvSpPr>
        <p:spPr>
          <a:xfrm>
            <a:off x="6273800" y="1039813"/>
            <a:ext cx="1123950" cy="635000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4D26924-CCAC-44B3-83C9-C6A86F731269}"/>
              </a:ext>
            </a:extLst>
          </p:cNvPr>
          <p:cNvSpPr txBox="1"/>
          <p:nvPr/>
        </p:nvSpPr>
        <p:spPr>
          <a:xfrm>
            <a:off x="6324600" y="1090613"/>
            <a:ext cx="102235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滑鼠輸入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FB9E2A9-4D68-0B67-0633-C066C387848A}"/>
              </a:ext>
            </a:extLst>
          </p:cNvPr>
          <p:cNvSpPr txBox="1"/>
          <p:nvPr/>
        </p:nvSpPr>
        <p:spPr>
          <a:xfrm>
            <a:off x="6324600" y="1357313"/>
            <a:ext cx="102235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FFFFFF"/>
                </a:solidFill>
                <a:latin typeface="Microsoft JhengHei" panose="020B0604030504040204" pitchFamily="34" charset="-120"/>
              </a:rPr>
              <a:t>csrss.exe</a:t>
            </a:r>
            <a:endParaRPr lang="zh-TW" altLang="en-US" sz="800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EA50A7F7-FA82-AF8B-F1C5-DCC852A824F7}"/>
              </a:ext>
            </a:extLst>
          </p:cNvPr>
          <p:cNvSpPr/>
          <p:nvPr/>
        </p:nvSpPr>
        <p:spPr>
          <a:xfrm>
            <a:off x="7499350" y="1281113"/>
            <a:ext cx="152400" cy="152400"/>
          </a:xfrm>
          <a:prstGeom prst="rightArrow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23ECA901-C689-F249-FA6F-42B67DD0C83E}"/>
              </a:ext>
            </a:extLst>
          </p:cNvPr>
          <p:cNvSpPr/>
          <p:nvPr/>
        </p:nvSpPr>
        <p:spPr>
          <a:xfrm>
            <a:off x="7753350" y="1039813"/>
            <a:ext cx="1123950" cy="635000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4FB7E13-32ED-C2DD-5765-3D25CE2740C3}"/>
              </a:ext>
            </a:extLst>
          </p:cNvPr>
          <p:cNvSpPr txBox="1"/>
          <p:nvPr/>
        </p:nvSpPr>
        <p:spPr>
          <a:xfrm>
            <a:off x="7804150" y="1090613"/>
            <a:ext cx="102235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遊戲引擎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2106FAA-CDA3-4BDD-3991-AD570D8073F9}"/>
              </a:ext>
            </a:extLst>
          </p:cNvPr>
          <p:cNvSpPr txBox="1"/>
          <p:nvPr/>
        </p:nvSpPr>
        <p:spPr>
          <a:xfrm>
            <a:off x="7804150" y="1357313"/>
            <a:ext cx="102235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FFFFFF"/>
                </a:solidFill>
                <a:latin typeface="Microsoft JhengHei" panose="020B0604030504040204" pitchFamily="34" charset="-120"/>
              </a:rPr>
              <a:t>SDK</a:t>
            </a:r>
            <a:r>
              <a:rPr lang="zh-TW" altLang="en-US" sz="800">
                <a:solidFill>
                  <a:srgbClr val="FFFFFF"/>
                </a:solidFill>
                <a:latin typeface="Microsoft JhengHei" panose="020B0604030504040204" pitchFamily="34" charset="-120"/>
              </a:rPr>
              <a:t>同步</a:t>
            </a:r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1236A7D7-AEB9-56AE-A05F-ACB1B60D5699}"/>
              </a:ext>
            </a:extLst>
          </p:cNvPr>
          <p:cNvSpPr/>
          <p:nvPr/>
        </p:nvSpPr>
        <p:spPr>
          <a:xfrm>
            <a:off x="8978900" y="1281113"/>
            <a:ext cx="152400" cy="152400"/>
          </a:xfrm>
          <a:prstGeom prst="rightArrow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41330351-5EBE-3028-28F6-53757CBC603C}"/>
              </a:ext>
            </a:extLst>
          </p:cNvPr>
          <p:cNvSpPr/>
          <p:nvPr/>
        </p:nvSpPr>
        <p:spPr>
          <a:xfrm>
            <a:off x="9232900" y="1039813"/>
            <a:ext cx="1123950" cy="635000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9AE290A-6B85-3812-9ED2-B213565B8743}"/>
              </a:ext>
            </a:extLst>
          </p:cNvPr>
          <p:cNvSpPr txBox="1"/>
          <p:nvPr/>
        </p:nvSpPr>
        <p:spPr>
          <a:xfrm>
            <a:off x="9283700" y="1090613"/>
            <a:ext cx="102235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GPU</a:t>
            </a:r>
            <a:endParaRPr lang="zh-TW" altLang="en-US" sz="90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840B7F3-6746-6F88-C27F-16DD0A1637C6}"/>
              </a:ext>
            </a:extLst>
          </p:cNvPr>
          <p:cNvSpPr txBox="1"/>
          <p:nvPr/>
        </p:nvSpPr>
        <p:spPr>
          <a:xfrm>
            <a:off x="9283700" y="1357313"/>
            <a:ext cx="102235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FFFFFF"/>
                </a:solidFill>
                <a:latin typeface="Microsoft JhengHei" panose="020B0604030504040204" pitchFamily="34" charset="-120"/>
              </a:rPr>
              <a:t>D3D12</a:t>
            </a:r>
            <a:endParaRPr lang="zh-TW" altLang="en-US" sz="800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220D0210-B7A7-85F3-436C-9D76D3BE5AB4}"/>
              </a:ext>
            </a:extLst>
          </p:cNvPr>
          <p:cNvSpPr/>
          <p:nvPr/>
        </p:nvSpPr>
        <p:spPr>
          <a:xfrm>
            <a:off x="10458450" y="1281113"/>
            <a:ext cx="152400" cy="152400"/>
          </a:xfrm>
          <a:prstGeom prst="rightArrow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613B27FB-D8EB-D39E-D8BE-846A65BEBA87}"/>
              </a:ext>
            </a:extLst>
          </p:cNvPr>
          <p:cNvSpPr/>
          <p:nvPr/>
        </p:nvSpPr>
        <p:spPr>
          <a:xfrm>
            <a:off x="10712450" y="1039813"/>
            <a:ext cx="1123950" cy="635000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A4A302E-DE40-B25B-7106-6153282D8587}"/>
              </a:ext>
            </a:extLst>
          </p:cNvPr>
          <p:cNvSpPr txBox="1"/>
          <p:nvPr/>
        </p:nvSpPr>
        <p:spPr>
          <a:xfrm>
            <a:off x="10763250" y="1090613"/>
            <a:ext cx="102235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顯示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A0025DF-A472-F27A-5788-E47B3E19D7AA}"/>
              </a:ext>
            </a:extLst>
          </p:cNvPr>
          <p:cNvSpPr txBox="1"/>
          <p:nvPr/>
        </p:nvSpPr>
        <p:spPr>
          <a:xfrm>
            <a:off x="10763250" y="1357313"/>
            <a:ext cx="102235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FFFFFF"/>
                </a:solidFill>
                <a:latin typeface="Microsoft JhengHei" panose="020B0604030504040204" pitchFamily="34" charset="-120"/>
              </a:rPr>
              <a:t>VRR</a:t>
            </a:r>
            <a:endParaRPr lang="zh-TW" altLang="en-US" sz="800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5993C73-3BBE-2748-78B2-88D0ADCABFEE}"/>
              </a:ext>
            </a:extLst>
          </p:cNvPr>
          <p:cNvSpPr/>
          <p:nvPr/>
        </p:nvSpPr>
        <p:spPr>
          <a:xfrm>
            <a:off x="6172200" y="2168525"/>
            <a:ext cx="5765800" cy="1343025"/>
          </a:xfrm>
          <a:prstGeom prst="rect">
            <a:avLst/>
          </a:prstGeom>
          <a:solidFill>
            <a:srgbClr val="F5F5F5"/>
          </a:solidFill>
          <a:ln w="19050">
            <a:solidFill>
              <a:srgbClr val="2196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2ACE845-7466-98E7-BE75-B41E164CC2D0}"/>
              </a:ext>
            </a:extLst>
          </p:cNvPr>
          <p:cNvSpPr txBox="1"/>
          <p:nvPr/>
        </p:nvSpPr>
        <p:spPr>
          <a:xfrm>
            <a:off x="6248400" y="2219325"/>
            <a:ext cx="5613400" cy="292388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TW" altLang="en-US" sz="1400" b="1">
                <a:solidFill>
                  <a:srgbClr val="2196F3"/>
                </a:solidFill>
                <a:latin typeface="Microsoft JhengHei" panose="020B0604030504040204" pitchFamily="34" charset="-120"/>
              </a:rPr>
              <a:t>手機</a:t>
            </a:r>
            <a:r>
              <a:rPr lang="en-US" altLang="zh-TW" sz="1400" b="1">
                <a:solidFill>
                  <a:srgbClr val="2196F3"/>
                </a:solidFill>
                <a:latin typeface="Microsoft JhengHei" panose="020B0604030504040204" pitchFamily="34" charset="-120"/>
              </a:rPr>
              <a:t>: Android + </a:t>
            </a:r>
            <a:r>
              <a:rPr lang="zh-TW" altLang="en-US" sz="1400" b="1">
                <a:solidFill>
                  <a:srgbClr val="2196F3"/>
                </a:solidFill>
                <a:latin typeface="Microsoft JhengHei" panose="020B0604030504040204" pitchFamily="34" charset="-120"/>
              </a:rPr>
              <a:t>天璣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4137A164-88AC-DBC1-5C49-BE74385188F6}"/>
              </a:ext>
            </a:extLst>
          </p:cNvPr>
          <p:cNvSpPr/>
          <p:nvPr/>
        </p:nvSpPr>
        <p:spPr>
          <a:xfrm>
            <a:off x="6273800" y="2636838"/>
            <a:ext cx="1123950" cy="635000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FFF457A-24D2-3B69-3E56-5D22124A561A}"/>
              </a:ext>
            </a:extLst>
          </p:cNvPr>
          <p:cNvSpPr txBox="1"/>
          <p:nvPr/>
        </p:nvSpPr>
        <p:spPr>
          <a:xfrm>
            <a:off x="6324600" y="2687638"/>
            <a:ext cx="102235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觸控輸入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A64B171-4C53-67EF-CADC-DD466CDF9470}"/>
              </a:ext>
            </a:extLst>
          </p:cNvPr>
          <p:cNvSpPr txBox="1"/>
          <p:nvPr/>
        </p:nvSpPr>
        <p:spPr>
          <a:xfrm>
            <a:off x="6324600" y="2954338"/>
            <a:ext cx="102235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FFFFFF"/>
                </a:solidFill>
                <a:latin typeface="Microsoft JhengHei" panose="020B0604030504040204" pitchFamily="34" charset="-120"/>
              </a:rPr>
              <a:t>InputReader</a:t>
            </a:r>
            <a:endParaRPr lang="zh-TW" altLang="en-US" sz="800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4" name="箭头: 右 53">
            <a:extLst>
              <a:ext uri="{FF2B5EF4-FFF2-40B4-BE49-F238E27FC236}">
                <a16:creationId xmlns:a16="http://schemas.microsoft.com/office/drawing/2014/main" id="{88F64E37-5068-DE47-D4DA-1C74768FD394}"/>
              </a:ext>
            </a:extLst>
          </p:cNvPr>
          <p:cNvSpPr/>
          <p:nvPr/>
        </p:nvSpPr>
        <p:spPr>
          <a:xfrm>
            <a:off x="7499350" y="2878138"/>
            <a:ext cx="152400" cy="152400"/>
          </a:xfrm>
          <a:prstGeom prst="rightArrow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A3880F70-6BC3-3330-3ACB-C04A42F68148}"/>
              </a:ext>
            </a:extLst>
          </p:cNvPr>
          <p:cNvSpPr/>
          <p:nvPr/>
        </p:nvSpPr>
        <p:spPr>
          <a:xfrm>
            <a:off x="7753350" y="2636838"/>
            <a:ext cx="1123950" cy="635000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C016267-3CAB-E614-D843-6DBB4BFDD17E}"/>
              </a:ext>
            </a:extLst>
          </p:cNvPr>
          <p:cNvSpPr txBox="1"/>
          <p:nvPr/>
        </p:nvSpPr>
        <p:spPr>
          <a:xfrm>
            <a:off x="7804150" y="2687638"/>
            <a:ext cx="102235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遊戲引擎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EFBE564-AAE9-6ED9-83AD-A6984FB4E724}"/>
              </a:ext>
            </a:extLst>
          </p:cNvPr>
          <p:cNvSpPr txBox="1"/>
          <p:nvPr/>
        </p:nvSpPr>
        <p:spPr>
          <a:xfrm>
            <a:off x="7804150" y="2954338"/>
            <a:ext cx="102235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800">
                <a:solidFill>
                  <a:srgbClr val="FFFFFF"/>
                </a:solidFill>
                <a:latin typeface="Microsoft JhengHei" panose="020B0604030504040204" pitchFamily="34" charset="-120"/>
              </a:rPr>
              <a:t>待導入</a:t>
            </a:r>
            <a:r>
              <a:rPr lang="en-US" altLang="zh-TW" sz="800">
                <a:solidFill>
                  <a:srgbClr val="FFFFFF"/>
                </a:solidFill>
                <a:latin typeface="Microsoft JhengHei" panose="020B0604030504040204" pitchFamily="34" charset="-120"/>
              </a:rPr>
              <a:t>SDK</a:t>
            </a:r>
            <a:endParaRPr lang="zh-TW" altLang="en-US" sz="800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8" name="箭头: 右 57">
            <a:extLst>
              <a:ext uri="{FF2B5EF4-FFF2-40B4-BE49-F238E27FC236}">
                <a16:creationId xmlns:a16="http://schemas.microsoft.com/office/drawing/2014/main" id="{7F7A5683-52ED-0FD0-D127-93904E5C8A0E}"/>
              </a:ext>
            </a:extLst>
          </p:cNvPr>
          <p:cNvSpPr/>
          <p:nvPr/>
        </p:nvSpPr>
        <p:spPr>
          <a:xfrm>
            <a:off x="8978900" y="2878138"/>
            <a:ext cx="152400" cy="152400"/>
          </a:xfrm>
          <a:prstGeom prst="rightArrow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9DFAD146-B12D-1A37-2D37-363DC0920FE4}"/>
              </a:ext>
            </a:extLst>
          </p:cNvPr>
          <p:cNvSpPr/>
          <p:nvPr/>
        </p:nvSpPr>
        <p:spPr>
          <a:xfrm>
            <a:off x="9232900" y="2636838"/>
            <a:ext cx="1123950" cy="635000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BE17E9E-7816-7E68-DD73-5FB952E476D1}"/>
              </a:ext>
            </a:extLst>
          </p:cNvPr>
          <p:cNvSpPr txBox="1"/>
          <p:nvPr/>
        </p:nvSpPr>
        <p:spPr>
          <a:xfrm>
            <a:off x="9283700" y="2687638"/>
            <a:ext cx="102235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GPU</a:t>
            </a:r>
            <a:endParaRPr lang="zh-TW" altLang="en-US" sz="90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798596E-AFE0-BD82-5100-05B78E11DF08}"/>
              </a:ext>
            </a:extLst>
          </p:cNvPr>
          <p:cNvSpPr txBox="1"/>
          <p:nvPr/>
        </p:nvSpPr>
        <p:spPr>
          <a:xfrm>
            <a:off x="9283700" y="2954338"/>
            <a:ext cx="102235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FFFFFF"/>
                </a:solidFill>
                <a:latin typeface="Microsoft JhengHei" panose="020B0604030504040204" pitchFamily="34" charset="-120"/>
              </a:rPr>
              <a:t>Mali</a:t>
            </a:r>
            <a:endParaRPr lang="zh-TW" altLang="en-US" sz="800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2" name="箭头: 右 61">
            <a:extLst>
              <a:ext uri="{FF2B5EF4-FFF2-40B4-BE49-F238E27FC236}">
                <a16:creationId xmlns:a16="http://schemas.microsoft.com/office/drawing/2014/main" id="{304D0276-EFC7-11D6-2D8F-7CDA974D0F97}"/>
              </a:ext>
            </a:extLst>
          </p:cNvPr>
          <p:cNvSpPr/>
          <p:nvPr/>
        </p:nvSpPr>
        <p:spPr>
          <a:xfrm>
            <a:off x="10458450" y="2878138"/>
            <a:ext cx="152400" cy="152400"/>
          </a:xfrm>
          <a:prstGeom prst="rightArrow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55E7A89E-B656-A9DB-5A25-79A250CDA447}"/>
              </a:ext>
            </a:extLst>
          </p:cNvPr>
          <p:cNvSpPr/>
          <p:nvPr/>
        </p:nvSpPr>
        <p:spPr>
          <a:xfrm>
            <a:off x="10712450" y="2636838"/>
            <a:ext cx="1123950" cy="635000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5929303-E893-5ED9-4AD2-E2C3A1CDC3A7}"/>
              </a:ext>
            </a:extLst>
          </p:cNvPr>
          <p:cNvSpPr txBox="1"/>
          <p:nvPr/>
        </p:nvSpPr>
        <p:spPr>
          <a:xfrm>
            <a:off x="10763250" y="2687638"/>
            <a:ext cx="102235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顯示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C3BD852-BAE2-F59D-9311-BF768CA108DD}"/>
              </a:ext>
            </a:extLst>
          </p:cNvPr>
          <p:cNvSpPr txBox="1"/>
          <p:nvPr/>
        </p:nvSpPr>
        <p:spPr>
          <a:xfrm>
            <a:off x="10763250" y="2954338"/>
            <a:ext cx="102235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FFFFFF"/>
                </a:solidFill>
                <a:latin typeface="Microsoft JhengHei" panose="020B0604030504040204" pitchFamily="34" charset="-120"/>
              </a:rPr>
              <a:t>SF</a:t>
            </a:r>
            <a:r>
              <a:rPr lang="zh-TW" altLang="en-US" sz="800">
                <a:solidFill>
                  <a:srgbClr val="FFFFFF"/>
                </a:solidFill>
                <a:latin typeface="Microsoft JhengHei" panose="020B0604030504040204" pitchFamily="34" charset="-120"/>
              </a:rPr>
              <a:t>合成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081DB64-4BE9-33E0-89FF-AB77E27572F0}"/>
              </a:ext>
            </a:extLst>
          </p:cNvPr>
          <p:cNvSpPr txBox="1"/>
          <p:nvPr/>
        </p:nvSpPr>
        <p:spPr>
          <a:xfrm>
            <a:off x="8039100" y="1965325"/>
            <a:ext cx="2032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700">
                <a:solidFill>
                  <a:srgbClr val="FF9800"/>
                </a:solidFill>
                <a:latin typeface="Microsoft JhengHei" panose="020B0604030504040204" pitchFamily="34" charset="-120"/>
              </a:rPr>
              <a:t>PC</a:t>
            </a:r>
            <a:r>
              <a:rPr lang="zh-TW" altLang="en-US" sz="700">
                <a:solidFill>
                  <a:srgbClr val="FF9800"/>
                </a:solidFill>
                <a:latin typeface="Microsoft JhengHei" panose="020B0604030504040204" pitchFamily="34" charset="-120"/>
              </a:rPr>
              <a:t>有</a:t>
            </a:r>
            <a:r>
              <a:rPr lang="en-US" altLang="zh-TW" sz="700">
                <a:solidFill>
                  <a:srgbClr val="FF9800"/>
                </a:solidFill>
                <a:latin typeface="Microsoft JhengHei" panose="020B0604030504040204" pitchFamily="34" charset="-120"/>
              </a:rPr>
              <a:t>SDK</a:t>
            </a:r>
            <a:r>
              <a:rPr lang="zh-TW" altLang="en-US" sz="700">
                <a:solidFill>
                  <a:srgbClr val="FF9800"/>
                </a:solidFill>
                <a:latin typeface="Microsoft JhengHei" panose="020B0604030504040204" pitchFamily="34" charset="-120"/>
              </a:rPr>
              <a:t>，手機待導入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871366B-C58F-142B-1F5F-F8B8641987BD}"/>
              </a:ext>
            </a:extLst>
          </p:cNvPr>
          <p:cNvSpPr txBox="1"/>
          <p:nvPr/>
        </p:nvSpPr>
        <p:spPr>
          <a:xfrm>
            <a:off x="254000" y="3663950"/>
            <a:ext cx="5765800" cy="26161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TW" sz="1200" b="1">
                <a:solidFill>
                  <a:srgbClr val="333333"/>
                </a:solidFill>
                <a:latin typeface="Microsoft JhengHei" panose="020B0604030504040204" pitchFamily="34" charset="-120"/>
              </a:rPr>
              <a:t>Android </a:t>
            </a:r>
            <a:r>
              <a:rPr lang="zh-TW" altLang="en-US" sz="1200" b="1">
                <a:solidFill>
                  <a:srgbClr val="333333"/>
                </a:solidFill>
                <a:latin typeface="Microsoft JhengHei" panose="020B0604030504040204" pitchFamily="34" charset="-120"/>
              </a:rPr>
              <a:t>觸控延遲鏈路</a:t>
            </a: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D7F7E3DC-8E28-3CC4-B0D6-2F6A0BD7CEC3}"/>
              </a:ext>
            </a:extLst>
          </p:cNvPr>
          <p:cNvCxnSpPr/>
          <p:nvPr/>
        </p:nvCxnSpPr>
        <p:spPr>
          <a:xfrm>
            <a:off x="635000" y="5182553"/>
            <a:ext cx="5003800" cy="0"/>
          </a:xfrm>
          <a:prstGeom prst="line">
            <a:avLst/>
          </a:prstGeom>
          <a:ln w="25400">
            <a:solidFill>
              <a:srgbClr val="9E9E9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八边形 68">
            <a:extLst>
              <a:ext uri="{FF2B5EF4-FFF2-40B4-BE49-F238E27FC236}">
                <a16:creationId xmlns:a16="http://schemas.microsoft.com/office/drawing/2014/main" id="{94BC43EF-A244-4FBD-44CC-2E5D78FCD32A}"/>
              </a:ext>
            </a:extLst>
          </p:cNvPr>
          <p:cNvSpPr/>
          <p:nvPr/>
        </p:nvSpPr>
        <p:spPr>
          <a:xfrm>
            <a:off x="812800" y="5106353"/>
            <a:ext cx="152400" cy="152400"/>
          </a:xfrm>
          <a:prstGeom prst="octagon">
            <a:avLst/>
          </a:prstGeom>
          <a:solidFill>
            <a:srgbClr val="FFFFFF"/>
          </a:solidFill>
          <a:ln w="25400">
            <a:solidFill>
              <a:srgbClr val="E91E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2DA88AE-5B89-09DD-1DA7-C40E07C5489B}"/>
              </a:ext>
            </a:extLst>
          </p:cNvPr>
          <p:cNvSpPr txBox="1"/>
          <p:nvPr/>
        </p:nvSpPr>
        <p:spPr>
          <a:xfrm>
            <a:off x="381000" y="4699953"/>
            <a:ext cx="10160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800" b="1">
                <a:solidFill>
                  <a:srgbClr val="E91E63"/>
                </a:solidFill>
                <a:latin typeface="Microsoft JhengHei" panose="020B0604030504040204" pitchFamily="34" charset="-120"/>
              </a:rPr>
              <a:t>觸控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9448F49-F1BA-2FCF-F517-EE716C053240}"/>
              </a:ext>
            </a:extLst>
          </p:cNvPr>
          <p:cNvSpPr txBox="1"/>
          <p:nvPr/>
        </p:nvSpPr>
        <p:spPr>
          <a:xfrm>
            <a:off x="571500" y="4890453"/>
            <a:ext cx="635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700">
                <a:solidFill>
                  <a:srgbClr val="9E9E9E"/>
                </a:solidFill>
                <a:latin typeface="Microsoft JhengHei" panose="020B0604030504040204" pitchFamily="34" charset="-120"/>
              </a:rPr>
              <a:t>T=0</a:t>
            </a:r>
            <a:endParaRPr lang="zh-TW" altLang="en-US" sz="700">
              <a:solidFill>
                <a:srgbClr val="9E9E9E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E3137CD-CD49-C976-01E2-6282AFF12CE8}"/>
              </a:ext>
            </a:extLst>
          </p:cNvPr>
          <p:cNvSpPr txBox="1"/>
          <p:nvPr/>
        </p:nvSpPr>
        <p:spPr>
          <a:xfrm>
            <a:off x="317500" y="5334953"/>
            <a:ext cx="1143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觸控</a:t>
            </a:r>
            <a:r>
              <a:rPr lang="en-US" altLang="zh-TW" sz="700">
                <a:solidFill>
                  <a:srgbClr val="333333"/>
                </a:solidFill>
                <a:latin typeface="Microsoft JhengHei" panose="020B0604030504040204" pitchFamily="34" charset="-120"/>
              </a:rPr>
              <a:t>IC</a:t>
            </a:r>
            <a:endParaRPr lang="zh-TW" altLang="en-US" sz="7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3" name="八边形 72">
            <a:extLst>
              <a:ext uri="{FF2B5EF4-FFF2-40B4-BE49-F238E27FC236}">
                <a16:creationId xmlns:a16="http://schemas.microsoft.com/office/drawing/2014/main" id="{43C236E4-424E-4160-D4A1-20D124FA7572}"/>
              </a:ext>
            </a:extLst>
          </p:cNvPr>
          <p:cNvSpPr/>
          <p:nvPr/>
        </p:nvSpPr>
        <p:spPr>
          <a:xfrm>
            <a:off x="1711960" y="5106353"/>
            <a:ext cx="152400" cy="152400"/>
          </a:xfrm>
          <a:prstGeom prst="octagon">
            <a:avLst/>
          </a:prstGeom>
          <a:solidFill>
            <a:srgbClr val="FFFFFF"/>
          </a:solidFill>
          <a:ln w="25400">
            <a:solidFill>
              <a:srgbClr val="9E9E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F9CEFEE-3B81-1DCA-61EF-7059D5ABC278}"/>
              </a:ext>
            </a:extLst>
          </p:cNvPr>
          <p:cNvSpPr txBox="1"/>
          <p:nvPr/>
        </p:nvSpPr>
        <p:spPr>
          <a:xfrm>
            <a:off x="1280160" y="4699953"/>
            <a:ext cx="10160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 b="1">
                <a:solidFill>
                  <a:srgbClr val="9E9E9E"/>
                </a:solidFill>
                <a:latin typeface="Microsoft JhengHei" panose="020B0604030504040204" pitchFamily="34" charset="-120"/>
              </a:rPr>
              <a:t>InputReader</a:t>
            </a:r>
            <a:endParaRPr lang="zh-TW" altLang="en-US" sz="800" b="1">
              <a:solidFill>
                <a:srgbClr val="9E9E9E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7C24E1D-837F-DDF6-D6D4-194E3D56E318}"/>
              </a:ext>
            </a:extLst>
          </p:cNvPr>
          <p:cNvSpPr txBox="1"/>
          <p:nvPr/>
        </p:nvSpPr>
        <p:spPr>
          <a:xfrm>
            <a:off x="1470660" y="4890453"/>
            <a:ext cx="635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700">
                <a:solidFill>
                  <a:srgbClr val="9E9E9E"/>
                </a:solidFill>
                <a:latin typeface="Microsoft JhengHei" panose="020B0604030504040204" pitchFamily="34" charset="-120"/>
              </a:rPr>
              <a:t>T=2ms</a:t>
            </a:r>
            <a:endParaRPr lang="zh-TW" altLang="en-US" sz="700">
              <a:solidFill>
                <a:srgbClr val="9E9E9E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56CF774-E734-6D91-08D3-AB7D6CF07852}"/>
              </a:ext>
            </a:extLst>
          </p:cNvPr>
          <p:cNvSpPr txBox="1"/>
          <p:nvPr/>
        </p:nvSpPr>
        <p:spPr>
          <a:xfrm>
            <a:off x="1216660" y="5334953"/>
            <a:ext cx="1143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讀取事件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E543FA7C-28E1-EF84-6445-C152B2CB4DF2}"/>
              </a:ext>
            </a:extLst>
          </p:cNvPr>
          <p:cNvSpPr txBox="1"/>
          <p:nvPr/>
        </p:nvSpPr>
        <p:spPr>
          <a:xfrm>
            <a:off x="1920240" y="5055553"/>
            <a:ext cx="635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700">
                <a:solidFill>
                  <a:srgbClr val="9E9E9E"/>
                </a:solidFill>
                <a:latin typeface="Microsoft JhengHei" panose="020B0604030504040204" pitchFamily="34" charset="-120"/>
              </a:rPr>
              <a:t>2ms</a:t>
            </a:r>
            <a:endParaRPr lang="zh-TW" altLang="en-US" sz="700">
              <a:solidFill>
                <a:srgbClr val="9E9E9E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8" name="八边形 77">
            <a:extLst>
              <a:ext uri="{FF2B5EF4-FFF2-40B4-BE49-F238E27FC236}">
                <a16:creationId xmlns:a16="http://schemas.microsoft.com/office/drawing/2014/main" id="{E34DE5DE-478D-EF35-F801-BA1A3B0508A1}"/>
              </a:ext>
            </a:extLst>
          </p:cNvPr>
          <p:cNvSpPr/>
          <p:nvPr/>
        </p:nvSpPr>
        <p:spPr>
          <a:xfrm>
            <a:off x="2611120" y="5106353"/>
            <a:ext cx="152400" cy="152400"/>
          </a:xfrm>
          <a:prstGeom prst="octagon">
            <a:avLst/>
          </a:prstGeom>
          <a:solidFill>
            <a:srgbClr val="FFFFFF"/>
          </a:solidFill>
          <a:ln w="25400">
            <a:solidFill>
              <a:srgbClr val="9E9E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0F75CB3A-9ECF-7D9D-3EFF-9076EA0983AD}"/>
              </a:ext>
            </a:extLst>
          </p:cNvPr>
          <p:cNvSpPr txBox="1"/>
          <p:nvPr/>
        </p:nvSpPr>
        <p:spPr>
          <a:xfrm>
            <a:off x="2179320" y="4699953"/>
            <a:ext cx="10160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800" b="1">
                <a:solidFill>
                  <a:srgbClr val="9E9E9E"/>
                </a:solidFill>
                <a:latin typeface="Microsoft JhengHei" panose="020B0604030504040204" pitchFamily="34" charset="-120"/>
              </a:rPr>
              <a:t>遊戲處理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D993AC67-ED9B-80E0-F233-DF204941215C}"/>
              </a:ext>
            </a:extLst>
          </p:cNvPr>
          <p:cNvSpPr txBox="1"/>
          <p:nvPr/>
        </p:nvSpPr>
        <p:spPr>
          <a:xfrm>
            <a:off x="2369820" y="4890453"/>
            <a:ext cx="635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700">
                <a:solidFill>
                  <a:srgbClr val="9E9E9E"/>
                </a:solidFill>
                <a:latin typeface="Microsoft JhengHei" panose="020B0604030504040204" pitchFamily="34" charset="-120"/>
              </a:rPr>
              <a:t>T=7ms</a:t>
            </a:r>
            <a:endParaRPr lang="zh-TW" altLang="en-US" sz="700">
              <a:solidFill>
                <a:srgbClr val="9E9E9E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6DD5DD2-9BB2-DE17-00D8-CAEB08AA48A5}"/>
              </a:ext>
            </a:extLst>
          </p:cNvPr>
          <p:cNvSpPr txBox="1"/>
          <p:nvPr/>
        </p:nvSpPr>
        <p:spPr>
          <a:xfrm>
            <a:off x="2115820" y="5334953"/>
            <a:ext cx="1143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遊戲邏輯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A1DACFE1-0AB7-E3F6-27F0-0794B6D038A6}"/>
              </a:ext>
            </a:extLst>
          </p:cNvPr>
          <p:cNvSpPr txBox="1"/>
          <p:nvPr/>
        </p:nvSpPr>
        <p:spPr>
          <a:xfrm>
            <a:off x="2819400" y="5055553"/>
            <a:ext cx="635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700">
                <a:solidFill>
                  <a:srgbClr val="9E9E9E"/>
                </a:solidFill>
                <a:latin typeface="Microsoft JhengHei" panose="020B0604030504040204" pitchFamily="34" charset="-120"/>
              </a:rPr>
              <a:t>5ms</a:t>
            </a:r>
            <a:endParaRPr lang="zh-TW" altLang="en-US" sz="700">
              <a:solidFill>
                <a:srgbClr val="9E9E9E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3" name="八边形 82">
            <a:extLst>
              <a:ext uri="{FF2B5EF4-FFF2-40B4-BE49-F238E27FC236}">
                <a16:creationId xmlns:a16="http://schemas.microsoft.com/office/drawing/2014/main" id="{B00B0C23-2371-EF10-A45E-B0CC080290F1}"/>
              </a:ext>
            </a:extLst>
          </p:cNvPr>
          <p:cNvSpPr/>
          <p:nvPr/>
        </p:nvSpPr>
        <p:spPr>
          <a:xfrm>
            <a:off x="3510280" y="5106353"/>
            <a:ext cx="152400" cy="152400"/>
          </a:xfrm>
          <a:prstGeom prst="octagon">
            <a:avLst/>
          </a:prstGeom>
          <a:solidFill>
            <a:srgbClr val="FFFFFF"/>
          </a:solidFill>
          <a:ln w="25400">
            <a:solidFill>
              <a:srgbClr val="F44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07A0B7F7-2771-85AD-28CD-38F5F9474DCC}"/>
              </a:ext>
            </a:extLst>
          </p:cNvPr>
          <p:cNvSpPr txBox="1"/>
          <p:nvPr/>
        </p:nvSpPr>
        <p:spPr>
          <a:xfrm>
            <a:off x="3078480" y="4699953"/>
            <a:ext cx="10160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 b="1">
                <a:solidFill>
                  <a:srgbClr val="F44336"/>
                </a:solidFill>
                <a:latin typeface="Microsoft JhengHei" panose="020B0604030504040204" pitchFamily="34" charset="-120"/>
              </a:rPr>
              <a:t>GPU</a:t>
            </a:r>
            <a:r>
              <a:rPr lang="zh-TW" altLang="en-US" sz="800" b="1">
                <a:solidFill>
                  <a:srgbClr val="F44336"/>
                </a:solidFill>
                <a:latin typeface="Microsoft JhengHei" panose="020B0604030504040204" pitchFamily="34" charset="-120"/>
              </a:rPr>
              <a:t>渲染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FCAE597-83D3-2A7B-6E57-42D395DABB38}"/>
              </a:ext>
            </a:extLst>
          </p:cNvPr>
          <p:cNvSpPr txBox="1"/>
          <p:nvPr/>
        </p:nvSpPr>
        <p:spPr>
          <a:xfrm>
            <a:off x="3268980" y="4890453"/>
            <a:ext cx="635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700">
                <a:solidFill>
                  <a:srgbClr val="9E9E9E"/>
                </a:solidFill>
                <a:latin typeface="Microsoft JhengHei" panose="020B0604030504040204" pitchFamily="34" charset="-120"/>
              </a:rPr>
              <a:t>T=15ms</a:t>
            </a:r>
            <a:endParaRPr lang="zh-TW" altLang="en-US" sz="700">
              <a:solidFill>
                <a:srgbClr val="9E9E9E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838CD6E3-9AA9-D848-4267-43D9E46F6589}"/>
              </a:ext>
            </a:extLst>
          </p:cNvPr>
          <p:cNvSpPr txBox="1"/>
          <p:nvPr/>
        </p:nvSpPr>
        <p:spPr>
          <a:xfrm>
            <a:off x="3014980" y="5334953"/>
            <a:ext cx="1143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渲染畫面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57945C2-225A-3A40-ECFB-4E28C69D207A}"/>
              </a:ext>
            </a:extLst>
          </p:cNvPr>
          <p:cNvSpPr txBox="1"/>
          <p:nvPr/>
        </p:nvSpPr>
        <p:spPr>
          <a:xfrm>
            <a:off x="3718560" y="5055553"/>
            <a:ext cx="635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700">
                <a:solidFill>
                  <a:srgbClr val="F44336"/>
                </a:solidFill>
                <a:latin typeface="Microsoft JhengHei" panose="020B0604030504040204" pitchFamily="34" charset="-120"/>
              </a:rPr>
              <a:t>8ms</a:t>
            </a:r>
            <a:endParaRPr lang="zh-TW" altLang="en-US" sz="700">
              <a:solidFill>
                <a:srgbClr val="F44336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8" name="八边形 87">
            <a:extLst>
              <a:ext uri="{FF2B5EF4-FFF2-40B4-BE49-F238E27FC236}">
                <a16:creationId xmlns:a16="http://schemas.microsoft.com/office/drawing/2014/main" id="{7905DDC7-AF76-F895-F2AA-D0A0A58ACB83}"/>
              </a:ext>
            </a:extLst>
          </p:cNvPr>
          <p:cNvSpPr/>
          <p:nvPr/>
        </p:nvSpPr>
        <p:spPr>
          <a:xfrm>
            <a:off x="4409440" y="5106353"/>
            <a:ext cx="152400" cy="152400"/>
          </a:xfrm>
          <a:prstGeom prst="octagon">
            <a:avLst/>
          </a:prstGeom>
          <a:solidFill>
            <a:srgbClr val="FFFFFF"/>
          </a:solidFill>
          <a:ln w="25400">
            <a:solidFill>
              <a:srgbClr val="F44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FFBEFC9F-AF4D-1B4F-8B85-ADCF4B367FD5}"/>
              </a:ext>
            </a:extLst>
          </p:cNvPr>
          <p:cNvSpPr txBox="1"/>
          <p:nvPr/>
        </p:nvSpPr>
        <p:spPr>
          <a:xfrm>
            <a:off x="3977640" y="4699953"/>
            <a:ext cx="10160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 b="1">
                <a:solidFill>
                  <a:srgbClr val="F44336"/>
                </a:solidFill>
                <a:latin typeface="Microsoft JhengHei" panose="020B0604030504040204" pitchFamily="34" charset="-120"/>
              </a:rPr>
              <a:t>SF</a:t>
            </a:r>
            <a:r>
              <a:rPr lang="zh-TW" altLang="en-US" sz="800" b="1">
                <a:solidFill>
                  <a:srgbClr val="F44336"/>
                </a:solidFill>
                <a:latin typeface="Microsoft JhengHei" panose="020B0604030504040204" pitchFamily="34" charset="-120"/>
              </a:rPr>
              <a:t>合成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EFC2789-A71F-8271-826D-7DADEE4B0B91}"/>
              </a:ext>
            </a:extLst>
          </p:cNvPr>
          <p:cNvSpPr txBox="1"/>
          <p:nvPr/>
        </p:nvSpPr>
        <p:spPr>
          <a:xfrm>
            <a:off x="4168140" y="4890453"/>
            <a:ext cx="635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700">
                <a:solidFill>
                  <a:srgbClr val="9E9E9E"/>
                </a:solidFill>
                <a:latin typeface="Microsoft JhengHei" panose="020B0604030504040204" pitchFamily="34" charset="-120"/>
              </a:rPr>
              <a:t>T=30ms</a:t>
            </a:r>
            <a:endParaRPr lang="zh-TW" altLang="en-US" sz="700">
              <a:solidFill>
                <a:srgbClr val="9E9E9E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B1210407-0151-B80F-B1AB-5C9FDE69E0A7}"/>
              </a:ext>
            </a:extLst>
          </p:cNvPr>
          <p:cNvSpPr txBox="1"/>
          <p:nvPr/>
        </p:nvSpPr>
        <p:spPr>
          <a:xfrm>
            <a:off x="3914140" y="5334953"/>
            <a:ext cx="1143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合成圖層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32C54FE-4C03-FD36-B651-2983848FB508}"/>
              </a:ext>
            </a:extLst>
          </p:cNvPr>
          <p:cNvSpPr txBox="1"/>
          <p:nvPr/>
        </p:nvSpPr>
        <p:spPr>
          <a:xfrm>
            <a:off x="4617720" y="5055553"/>
            <a:ext cx="635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700">
                <a:solidFill>
                  <a:srgbClr val="F44336"/>
                </a:solidFill>
                <a:latin typeface="Microsoft JhengHei" panose="020B0604030504040204" pitchFamily="34" charset="-120"/>
              </a:rPr>
              <a:t>15ms</a:t>
            </a:r>
            <a:endParaRPr lang="zh-TW" altLang="en-US" sz="700">
              <a:solidFill>
                <a:srgbClr val="F44336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3" name="八边形 92">
            <a:extLst>
              <a:ext uri="{FF2B5EF4-FFF2-40B4-BE49-F238E27FC236}">
                <a16:creationId xmlns:a16="http://schemas.microsoft.com/office/drawing/2014/main" id="{B8A11CD9-907B-881E-5C55-21F0074217EA}"/>
              </a:ext>
            </a:extLst>
          </p:cNvPr>
          <p:cNvSpPr/>
          <p:nvPr/>
        </p:nvSpPr>
        <p:spPr>
          <a:xfrm>
            <a:off x="5308600" y="5106353"/>
            <a:ext cx="152400" cy="152400"/>
          </a:xfrm>
          <a:prstGeom prst="octagon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97F10C4-F529-E432-7FBD-ED1A057F8E02}"/>
              </a:ext>
            </a:extLst>
          </p:cNvPr>
          <p:cNvSpPr txBox="1"/>
          <p:nvPr/>
        </p:nvSpPr>
        <p:spPr>
          <a:xfrm>
            <a:off x="4876800" y="4699953"/>
            <a:ext cx="10160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800" b="1">
                <a:solidFill>
                  <a:srgbClr val="4CAF50"/>
                </a:solidFill>
                <a:latin typeface="Microsoft JhengHei" panose="020B0604030504040204" pitchFamily="34" charset="-120"/>
              </a:rPr>
              <a:t>顯示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174DE434-F701-A797-6ACB-DD7B321630F8}"/>
              </a:ext>
            </a:extLst>
          </p:cNvPr>
          <p:cNvSpPr txBox="1"/>
          <p:nvPr/>
        </p:nvSpPr>
        <p:spPr>
          <a:xfrm>
            <a:off x="5067300" y="4890453"/>
            <a:ext cx="635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700">
                <a:solidFill>
                  <a:srgbClr val="9E9E9E"/>
                </a:solidFill>
                <a:latin typeface="Microsoft JhengHei" panose="020B0604030504040204" pitchFamily="34" charset="-120"/>
              </a:rPr>
              <a:t>T=50ms</a:t>
            </a:r>
            <a:endParaRPr lang="zh-TW" altLang="en-US" sz="700">
              <a:solidFill>
                <a:srgbClr val="9E9E9E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1C03CAE7-18B8-3565-7B0E-AE107E4A16CD}"/>
              </a:ext>
            </a:extLst>
          </p:cNvPr>
          <p:cNvSpPr txBox="1"/>
          <p:nvPr/>
        </p:nvSpPr>
        <p:spPr>
          <a:xfrm>
            <a:off x="4813300" y="5334953"/>
            <a:ext cx="1143000" cy="184666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700">
                <a:solidFill>
                  <a:srgbClr val="333333"/>
                </a:solidFill>
                <a:latin typeface="Microsoft JhengHei" panose="020B0604030504040204" pitchFamily="34" charset="-120"/>
              </a:rPr>
              <a:t>像素發光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D90D04D8-821C-0D07-9BE9-C333546DF073}"/>
              </a:ext>
            </a:extLst>
          </p:cNvPr>
          <p:cNvSpPr txBox="1"/>
          <p:nvPr/>
        </p:nvSpPr>
        <p:spPr>
          <a:xfrm>
            <a:off x="6172200" y="3663950"/>
            <a:ext cx="5765800" cy="246221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TW" sz="1100" b="1">
                <a:solidFill>
                  <a:srgbClr val="333333"/>
                </a:solidFill>
                <a:latin typeface="Microsoft JhengHei" panose="020B0604030504040204" pitchFamily="34" charset="-120"/>
              </a:rPr>
              <a:t>MTK Anti-Lag SDK </a:t>
            </a:r>
            <a:r>
              <a:rPr lang="zh-TW" altLang="en-US" sz="1100" b="1">
                <a:solidFill>
                  <a:srgbClr val="333333"/>
                </a:solidFill>
                <a:latin typeface="Microsoft JhengHei" panose="020B0604030504040204" pitchFamily="34" charset="-120"/>
              </a:rPr>
              <a:t>架構</a:t>
            </a: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EEFC77CB-F13B-267E-8643-76EB3DE4199F}"/>
              </a:ext>
            </a:extLst>
          </p:cNvPr>
          <p:cNvSpPr/>
          <p:nvPr/>
        </p:nvSpPr>
        <p:spPr>
          <a:xfrm>
            <a:off x="6172200" y="3968750"/>
            <a:ext cx="5765800" cy="582613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57777E8E-7082-DBAA-B0B1-309F7024FD9C}"/>
              </a:ext>
            </a:extLst>
          </p:cNvPr>
          <p:cNvSpPr txBox="1"/>
          <p:nvPr/>
        </p:nvSpPr>
        <p:spPr>
          <a:xfrm>
            <a:off x="6235700" y="3994150"/>
            <a:ext cx="563880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TW" altLang="en-US" sz="900" b="1">
                <a:solidFill>
                  <a:srgbClr val="333333"/>
                </a:solidFill>
                <a:latin typeface="Microsoft JhengHei" panose="020B0604030504040204" pitchFamily="34" charset="-120"/>
              </a:rPr>
              <a:t>應用層</a:t>
            </a: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C8E073DA-119B-3F0D-DE1E-084E32C7CAE6}"/>
              </a:ext>
            </a:extLst>
          </p:cNvPr>
          <p:cNvSpPr/>
          <p:nvPr/>
        </p:nvSpPr>
        <p:spPr>
          <a:xfrm>
            <a:off x="7092950" y="4197350"/>
            <a:ext cx="1143000" cy="3032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1625513F-AB69-464E-2D6C-30DCD2B76B2D}"/>
              </a:ext>
            </a:extLst>
          </p:cNvPr>
          <p:cNvSpPr txBox="1"/>
          <p:nvPr/>
        </p:nvSpPr>
        <p:spPr>
          <a:xfrm>
            <a:off x="7131050" y="4222750"/>
            <a:ext cx="10668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800">
                <a:solidFill>
                  <a:srgbClr val="333333"/>
                </a:solidFill>
                <a:latin typeface="Microsoft JhengHei" panose="020B0604030504040204" pitchFamily="34" charset="-120"/>
              </a:rPr>
              <a:t>和平菁英</a:t>
            </a: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3A35A685-FABB-F5F7-85A5-5CD59B6A3140}"/>
              </a:ext>
            </a:extLst>
          </p:cNvPr>
          <p:cNvSpPr/>
          <p:nvPr/>
        </p:nvSpPr>
        <p:spPr>
          <a:xfrm>
            <a:off x="9874250" y="4197350"/>
            <a:ext cx="1143000" cy="3032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4ACF522-57B7-35BC-213E-82D58E64427C}"/>
              </a:ext>
            </a:extLst>
          </p:cNvPr>
          <p:cNvSpPr txBox="1"/>
          <p:nvPr/>
        </p:nvSpPr>
        <p:spPr>
          <a:xfrm>
            <a:off x="9912350" y="4222750"/>
            <a:ext cx="10668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800">
                <a:solidFill>
                  <a:srgbClr val="333333"/>
                </a:solidFill>
                <a:latin typeface="Microsoft JhengHei" panose="020B0604030504040204" pitchFamily="34" charset="-120"/>
              </a:rPr>
              <a:t>鳴潮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A19CB2EE-2FF1-D359-68D9-886D5B2B8EDE}"/>
              </a:ext>
            </a:extLst>
          </p:cNvPr>
          <p:cNvSpPr txBox="1"/>
          <p:nvPr/>
        </p:nvSpPr>
        <p:spPr>
          <a:xfrm>
            <a:off x="8953500" y="4525963"/>
            <a:ext cx="203200" cy="2308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1000">
                <a:solidFill>
                  <a:srgbClr val="9E9E9E"/>
                </a:solidFill>
                <a:latin typeface="Microsoft JhengHei" panose="020B0604030504040204" pitchFamily="34" charset="-120"/>
              </a:rPr>
              <a:t>↓</a:t>
            </a: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AAB5C8EA-307F-54DF-D99A-B1F2054E353C}"/>
              </a:ext>
            </a:extLst>
          </p:cNvPr>
          <p:cNvSpPr/>
          <p:nvPr/>
        </p:nvSpPr>
        <p:spPr>
          <a:xfrm>
            <a:off x="6172200" y="4652963"/>
            <a:ext cx="5765800" cy="582612"/>
          </a:xfrm>
          <a:prstGeom prst="roundRect">
            <a:avLst/>
          </a:prstGeom>
          <a:solidFill>
            <a:srgbClr val="FFF3E0"/>
          </a:solidFill>
          <a:ln w="15875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70D57DBC-F2DA-2951-DE84-5ED327F5553D}"/>
              </a:ext>
            </a:extLst>
          </p:cNvPr>
          <p:cNvSpPr txBox="1"/>
          <p:nvPr/>
        </p:nvSpPr>
        <p:spPr>
          <a:xfrm>
            <a:off x="6235700" y="4678363"/>
            <a:ext cx="563880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333333"/>
                </a:solidFill>
                <a:latin typeface="Microsoft JhengHei" panose="020B0604030504040204" pitchFamily="34" charset="-120"/>
              </a:rPr>
              <a:t>SDK </a:t>
            </a:r>
            <a:r>
              <a:rPr lang="zh-TW" altLang="en-US" sz="900" b="1">
                <a:solidFill>
                  <a:srgbClr val="333333"/>
                </a:solidFill>
                <a:latin typeface="Microsoft JhengHei" panose="020B0604030504040204" pitchFamily="34" charset="-120"/>
              </a:rPr>
              <a:t>層（</a:t>
            </a:r>
            <a:r>
              <a:rPr lang="en-US" altLang="zh-TW" sz="900" b="1">
                <a:solidFill>
                  <a:srgbClr val="333333"/>
                </a:solidFill>
                <a:latin typeface="Microsoft JhengHei" panose="020B0604030504040204" pitchFamily="34" charset="-120"/>
              </a:rPr>
              <a:t>POC</a:t>
            </a:r>
            <a:r>
              <a:rPr lang="zh-TW" altLang="en-US" sz="900" b="1">
                <a:solidFill>
                  <a:srgbClr val="333333"/>
                </a:solidFill>
                <a:latin typeface="Microsoft JhengHei" panose="020B0604030504040204" pitchFamily="34" charset="-120"/>
              </a:rPr>
              <a:t>）</a:t>
            </a: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2C3FFB46-8127-F970-68BE-35A4AC508101}"/>
              </a:ext>
            </a:extLst>
          </p:cNvPr>
          <p:cNvSpPr/>
          <p:nvPr/>
        </p:nvSpPr>
        <p:spPr>
          <a:xfrm>
            <a:off x="8483600" y="4881563"/>
            <a:ext cx="1143000" cy="3032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824E5DF5-A139-7A6E-5FC0-6B7A21C46F4E}"/>
              </a:ext>
            </a:extLst>
          </p:cNvPr>
          <p:cNvSpPr txBox="1"/>
          <p:nvPr/>
        </p:nvSpPr>
        <p:spPr>
          <a:xfrm>
            <a:off x="8521700" y="4906963"/>
            <a:ext cx="10668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333333"/>
                </a:solidFill>
                <a:latin typeface="Microsoft JhengHei" panose="020B0604030504040204" pitchFamily="34" charset="-120"/>
              </a:rPr>
              <a:t>Anti-Lag SDK</a:t>
            </a:r>
            <a:endParaRPr lang="zh-TW" altLang="en-US" sz="8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B174876-DF84-8D26-00F0-B8276647CBA9}"/>
              </a:ext>
            </a:extLst>
          </p:cNvPr>
          <p:cNvSpPr txBox="1"/>
          <p:nvPr/>
        </p:nvSpPr>
        <p:spPr>
          <a:xfrm>
            <a:off x="8953500" y="5210175"/>
            <a:ext cx="203200" cy="2308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1000">
                <a:solidFill>
                  <a:srgbClr val="9E9E9E"/>
                </a:solidFill>
                <a:latin typeface="Microsoft JhengHei" panose="020B0604030504040204" pitchFamily="34" charset="-120"/>
              </a:rPr>
              <a:t>↓</a:t>
            </a: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494BD939-B235-F2A3-9EF2-247AD10CA2A1}"/>
              </a:ext>
            </a:extLst>
          </p:cNvPr>
          <p:cNvSpPr/>
          <p:nvPr/>
        </p:nvSpPr>
        <p:spPr>
          <a:xfrm>
            <a:off x="6172200" y="5337175"/>
            <a:ext cx="5765800" cy="582613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BF0B245-35AB-F1FA-17B4-A1DEDBB634BE}"/>
              </a:ext>
            </a:extLst>
          </p:cNvPr>
          <p:cNvSpPr txBox="1"/>
          <p:nvPr/>
        </p:nvSpPr>
        <p:spPr>
          <a:xfrm>
            <a:off x="6235700" y="5362575"/>
            <a:ext cx="563880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TW" altLang="en-US" sz="900" b="1">
                <a:solidFill>
                  <a:srgbClr val="333333"/>
                </a:solidFill>
                <a:latin typeface="Microsoft JhengHei" panose="020B0604030504040204" pitchFamily="34" charset="-120"/>
              </a:rPr>
              <a:t>框架層</a:t>
            </a: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18BB28E8-86A1-0A9D-0875-2353B696E59B}"/>
              </a:ext>
            </a:extLst>
          </p:cNvPr>
          <p:cNvSpPr/>
          <p:nvPr/>
        </p:nvSpPr>
        <p:spPr>
          <a:xfrm>
            <a:off x="7092950" y="5565775"/>
            <a:ext cx="1143000" cy="3032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0A041246-32EC-15B2-5F24-11D1B3613F0E}"/>
              </a:ext>
            </a:extLst>
          </p:cNvPr>
          <p:cNvSpPr txBox="1"/>
          <p:nvPr/>
        </p:nvSpPr>
        <p:spPr>
          <a:xfrm>
            <a:off x="7131050" y="5591175"/>
            <a:ext cx="10668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333333"/>
                </a:solidFill>
                <a:latin typeface="Microsoft JhengHei" panose="020B0604030504040204" pitchFamily="34" charset="-120"/>
              </a:rPr>
              <a:t>SurfaceFlinger</a:t>
            </a:r>
            <a:endParaRPr lang="zh-TW" altLang="en-US" sz="8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1E5BADA8-B180-59D6-3D71-8847450E80DA}"/>
              </a:ext>
            </a:extLst>
          </p:cNvPr>
          <p:cNvSpPr/>
          <p:nvPr/>
        </p:nvSpPr>
        <p:spPr>
          <a:xfrm>
            <a:off x="9874250" y="5565775"/>
            <a:ext cx="1143000" cy="3032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D853D698-107F-48CD-479B-5F2CD8BA4490}"/>
              </a:ext>
            </a:extLst>
          </p:cNvPr>
          <p:cNvSpPr txBox="1"/>
          <p:nvPr/>
        </p:nvSpPr>
        <p:spPr>
          <a:xfrm>
            <a:off x="9912350" y="5591175"/>
            <a:ext cx="10668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333333"/>
                </a:solidFill>
                <a:latin typeface="Microsoft JhengHei" panose="020B0604030504040204" pitchFamily="34" charset="-120"/>
              </a:rPr>
              <a:t>FPSGO</a:t>
            </a:r>
            <a:endParaRPr lang="zh-TW" altLang="en-US" sz="8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5E6884A4-C068-CFCD-2642-5254B9AC86A0}"/>
              </a:ext>
            </a:extLst>
          </p:cNvPr>
          <p:cNvSpPr txBox="1"/>
          <p:nvPr/>
        </p:nvSpPr>
        <p:spPr>
          <a:xfrm>
            <a:off x="8953500" y="5894388"/>
            <a:ext cx="203200" cy="230832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1000">
                <a:solidFill>
                  <a:srgbClr val="9E9E9E"/>
                </a:solidFill>
                <a:latin typeface="Microsoft JhengHei" panose="020B0604030504040204" pitchFamily="34" charset="-120"/>
              </a:rPr>
              <a:t>↓</a:t>
            </a: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E8E0BDC8-3E5C-EE29-BFA5-79191A085079}"/>
              </a:ext>
            </a:extLst>
          </p:cNvPr>
          <p:cNvSpPr/>
          <p:nvPr/>
        </p:nvSpPr>
        <p:spPr>
          <a:xfrm>
            <a:off x="6172200" y="6021388"/>
            <a:ext cx="5765800" cy="582612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E0E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BA54C51-2A43-F901-AEFA-DC0581BC0E1B}"/>
              </a:ext>
            </a:extLst>
          </p:cNvPr>
          <p:cNvSpPr txBox="1"/>
          <p:nvPr/>
        </p:nvSpPr>
        <p:spPr>
          <a:xfrm>
            <a:off x="6235700" y="6046788"/>
            <a:ext cx="5638800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TW" altLang="en-US" sz="900" b="1">
                <a:solidFill>
                  <a:srgbClr val="333333"/>
                </a:solidFill>
                <a:latin typeface="Microsoft JhengHei" panose="020B0604030504040204" pitchFamily="34" charset="-120"/>
              </a:rPr>
              <a:t>硬體層</a:t>
            </a: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78CDC902-8831-EDCB-FFF7-400E3C5B5EA2}"/>
              </a:ext>
            </a:extLst>
          </p:cNvPr>
          <p:cNvSpPr/>
          <p:nvPr/>
        </p:nvSpPr>
        <p:spPr>
          <a:xfrm>
            <a:off x="7092950" y="6249988"/>
            <a:ext cx="1143000" cy="3032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E7797FDA-D83C-C36C-6FC2-921D04CEEC93}"/>
              </a:ext>
            </a:extLst>
          </p:cNvPr>
          <p:cNvSpPr txBox="1"/>
          <p:nvPr/>
        </p:nvSpPr>
        <p:spPr>
          <a:xfrm>
            <a:off x="7131050" y="6275388"/>
            <a:ext cx="10668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800">
                <a:solidFill>
                  <a:srgbClr val="333333"/>
                </a:solidFill>
                <a:latin typeface="Microsoft JhengHei" panose="020B0604030504040204" pitchFamily="34" charset="-120"/>
              </a:rPr>
              <a:t>天璣 </a:t>
            </a:r>
            <a:r>
              <a:rPr lang="en-US" altLang="zh-TW" sz="800">
                <a:solidFill>
                  <a:srgbClr val="333333"/>
                </a:solidFill>
                <a:latin typeface="Microsoft JhengHei" panose="020B0604030504040204" pitchFamily="34" charset="-120"/>
              </a:rPr>
              <a:t>SoC</a:t>
            </a:r>
            <a:endParaRPr lang="zh-TW" altLang="en-US" sz="8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74DFFAB4-8A34-A777-D1B4-2C9F63755653}"/>
              </a:ext>
            </a:extLst>
          </p:cNvPr>
          <p:cNvSpPr/>
          <p:nvPr/>
        </p:nvSpPr>
        <p:spPr>
          <a:xfrm>
            <a:off x="9874250" y="6249988"/>
            <a:ext cx="1143000" cy="3032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A3FBDE5-EB18-6E66-F6ED-2C88C4A8181D}"/>
              </a:ext>
            </a:extLst>
          </p:cNvPr>
          <p:cNvSpPr txBox="1"/>
          <p:nvPr/>
        </p:nvSpPr>
        <p:spPr>
          <a:xfrm>
            <a:off x="9912350" y="6275388"/>
            <a:ext cx="1066800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TW" sz="800">
                <a:solidFill>
                  <a:srgbClr val="333333"/>
                </a:solidFill>
                <a:latin typeface="Microsoft JhengHei" panose="020B0604030504040204" pitchFamily="34" charset="-120"/>
              </a:rPr>
              <a:t>Mali GPU</a:t>
            </a:r>
            <a:endParaRPr lang="zh-TW" altLang="en-US" sz="800">
              <a:solidFill>
                <a:srgbClr val="333333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9774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自定义</PresentationFormat>
  <Paragraphs>73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JhengHei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huang damody</dc:creator>
  <cp:lastModifiedBy>huang damody</cp:lastModifiedBy>
  <cp:revision>1</cp:revision>
  <dcterms:created xsi:type="dcterms:W3CDTF">2026-01-17T17:00:10Z</dcterms:created>
  <dcterms:modified xsi:type="dcterms:W3CDTF">2026-01-17T17:00:10Z</dcterms:modified>
</cp:coreProperties>
</file>