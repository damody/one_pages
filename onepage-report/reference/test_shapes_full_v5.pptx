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JhengHei"/>
              </a:defRPr>
            </a:pPr>
            <a:r>
              <a:t>延遲變化趨勢</a:t>
            </a:r>
          </a:p>
        </c:rich>
      </c:tx>
      <c:layout/>
      <c:overlay val="0"/>
    </c:title>
    <c:autoTitleDeleted val="0"/>
    <c:plotArea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改善前 (ms)</c:v>
                </c:pt>
              </c:strCache>
            </c:strRef>
          </c:tx>
          <c:spPr>
            <a:ln>
              <a:solidFill>
                <a:srgbClr val="F44336"/>
              </a:solidFill>
            </a:ln>
          </c:spPr>
          <c:cat>
            <c:strRef>
              <c:f>Sheet1!$A$2:$A$6</c:f>
              <c:strCache>
                <c:ptCount val="5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75</c:v>
                </c:pt>
                <c:pt idx="2">
                  <c:v>78</c:v>
                </c:pt>
                <c:pt idx="3">
                  <c:v>82</c:v>
                </c:pt>
                <c:pt idx="4">
                  <c:v>79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改善後 (ms)</c:v>
                </c:pt>
              </c:strCache>
            </c:strRef>
          </c:tx>
          <c:spPr>
            <a:ln>
              <a:solidFill>
                <a:srgbClr val="4CAF50"/>
              </a:solidFill>
            </a:ln>
          </c:spPr>
          <c:cat>
            <c:strRef>
              <c:f>Sheet1!$A$2:$A$6</c:f>
              <c:strCache>
                <c:ptCount val="5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80</c:v>
                </c:pt>
                <c:pt idx="1">
                  <c:v>45</c:v>
                </c:pt>
                <c:pt idx="2">
                  <c:v>30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JhengHei"/>
              </a:defRPr>
            </a:pPr>
            <a:r>
              <a:t>各遊戲延遲對比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改善前</c:v>
                </c:pt>
              </c:strCache>
            </c:strRef>
          </c:tx>
          <c:dPt>
            <c:idx val="0"/>
            <c:spPr>
              <a:solidFill>
                <a:srgbClr val="F44336"/>
              </a:solidFill>
            </c:spPr>
          </c:dPt>
          <c:dPt>
            <c:idx val="1"/>
            <c:spPr>
              <a:solidFill>
                <a:srgbClr val="F44336"/>
              </a:solidFill>
            </c:spPr>
          </c:dPt>
          <c:dPt>
            <c:idx val="2"/>
            <c:spPr>
              <a:solidFill>
                <a:srgbClr val="F44336"/>
              </a:solidFill>
            </c:spPr>
          </c:dPt>
          <c:dPt>
            <c:idx val="3"/>
            <c:spPr>
              <a:solidFill>
                <a:srgbClr val="F44336"/>
              </a:solidFill>
            </c:spPr>
          </c:dPt>
          <c:cat>
            <c:strRef>
              <c:f>Sheet1!$A$2:$A$5</c:f>
              <c:strCache>
                <c:ptCount val="4"/>
                <c:pt idx="0">
                  <c:v>王者榮耀</c:v>
                </c:pt>
                <c:pt idx="1">
                  <c:v>原神</c:v>
                </c:pt>
                <c:pt idx="2">
                  <c:v>PUBG</c:v>
                </c:pt>
                <c:pt idx="3">
                  <c:v>Free Fire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65</c:v>
                </c:pt>
                <c:pt idx="2">
                  <c:v>70</c:v>
                </c:pt>
                <c:pt idx="3">
                  <c:v>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改善後</c:v>
                </c:pt>
              </c:strCache>
            </c:strRef>
          </c:tx>
          <c:dPt>
            <c:idx val="0"/>
            <c:spPr>
              <a:solidFill>
                <a:srgbClr val="4CAF50"/>
              </a:solidFill>
            </c:spPr>
          </c:dPt>
          <c:dPt>
            <c:idx val="1"/>
            <c:spPr>
              <a:solidFill>
                <a:srgbClr val="4CAF50"/>
              </a:solidFill>
            </c:spPr>
          </c:dPt>
          <c:dPt>
            <c:idx val="2"/>
            <c:spPr>
              <a:solidFill>
                <a:srgbClr val="4CAF50"/>
              </a:solidFill>
            </c:spPr>
          </c:dPt>
          <c:dPt>
            <c:idx val="3"/>
            <c:spPr>
              <a:solidFill>
                <a:srgbClr val="4CAF50"/>
              </a:solidFill>
            </c:spPr>
          </c:dPt>
          <c:cat>
            <c:strRef>
              <c:f>Sheet1!$A$2:$A$5</c:f>
              <c:strCache>
                <c:ptCount val="4"/>
                <c:pt idx="0">
                  <c:v>王者榮耀</c:v>
                </c:pt>
                <c:pt idx="1">
                  <c:v>原神</c:v>
                </c:pt>
                <c:pt idx="2">
                  <c:v>PUBG</c:v>
                </c:pt>
                <c:pt idx="3">
                  <c:v>Free Fire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</c:v>
                </c:pt>
                <c:pt idx="1">
                  <c:v>20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 b="1">
                <a:latin typeface="Microsoft JhengHei"/>
              </a:defRPr>
            </a:pPr>
            <a:r>
              <a:t>延遲來源分布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F44336"/>
              </a:solidFill>
            </c:spPr>
          </c:dPt>
          <c:dPt>
            <c:idx val="1"/>
            <c:spPr>
              <a:solidFill>
                <a:srgbClr val="2196F3"/>
              </a:solidFill>
            </c:spPr>
          </c:dPt>
          <c:dPt>
            <c:idx val="2"/>
            <c:spPr>
              <a:solidFill>
                <a:srgbClr val="4CAF50"/>
              </a:solidFill>
            </c:spPr>
          </c:dPt>
          <c:dPt>
            <c:idx val="3"/>
            <c:spPr>
              <a:solidFill>
                <a:srgbClr val="616161"/>
              </a:solidFill>
            </c:spPr>
          </c:dPt>
          <c:cat>
            <c:strRef>
              <c:f>Sheet1!$A$2:$A$5</c:f>
              <c:strCache>
                <c:ptCount val="4"/>
                <c:pt idx="0">
                  <c:v>Frame Queue</c:v>
                </c:pt>
                <c:pt idx="1">
                  <c:v>GPU 渲染</c:v>
                </c:pt>
                <c:pt idx="2">
                  <c:v>顯示路徑</c:v>
                </c:pt>
                <c:pt idx="3">
                  <c:v>其他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3333"/>
                </a:solidFill>
                <a:latin typeface="Microsoft JhengHei"/>
              </a:defRPr>
            </a:pPr>
            <a:r>
              <a:t>導入 SDK 同步機制可降低 81% 遊戲操作延遲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16161"/>
                </a:solidFill>
                <a:latin typeface="Microsoft JhengHei"/>
              </a:defRPr>
            </a:pPr>
            <a:r>
              <a:t>借鏡 PC Anti-Lag 技術，解決手機 Frame Queue 堆積問題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問題與解決方案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34440"/>
            <a:ext cx="2651760" cy="2103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4336"/>
                </a:solidFill>
                <a:latin typeface="Microsoft JhengHei"/>
              </a:defRPr>
            </a:pPr>
            <a:r>
              <a:t>現況問題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468879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GPU 不知道遊戲目標幀率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BufferQueue 堆積 2-3 幀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操作延遲達 50-80ms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玩家體驗卡頓、不跟手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39" y="1234440"/>
            <a:ext cx="2651760" cy="21031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325880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  <a:latin typeface="Microsoft JhengHei"/>
              </a:defRPr>
            </a:pPr>
            <a:r>
              <a:t>導入 SDK 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600200"/>
            <a:ext cx="2468879" cy="1645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SDK 通知目標幀率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GPU 同步渲染節奏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延遲降低至 10-15ms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操作即時反饋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17520" y="2176272"/>
            <a:ext cx="182880" cy="219456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9144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預期效益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1737360" cy="10058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258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81%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787652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JhengHei"/>
              </a:defRPr>
            </a:pPr>
            <a:r>
              <a:t>延遲降低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34440"/>
            <a:ext cx="1737360" cy="10058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3258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1787652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JhengHei"/>
              </a:defRPr>
            </a:pPr>
            <a:r>
              <a:t>Frame 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66960" y="1234440"/>
            <a:ext cx="1737360" cy="100584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325880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1787652"/>
            <a:ext cx="17373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JhengHei"/>
              </a:defRPr>
            </a:pPr>
            <a:r>
              <a:t>幀率穩定度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377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成功判定準則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706624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517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Click-to-Photon 延遲 &lt; 30ms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2999232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4436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Frame Queue 維持 0-1 幀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3291840"/>
            <a:ext cx="182880" cy="1828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369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功耗增加 &lt; 5%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6217920" y="3584448"/>
            <a:ext cx="182880" cy="182880"/>
          </a:xfrm>
          <a:prstGeom prst="triangl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529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需驗證 10 款熱門遊戲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88620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技術方案流程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" y="4160520"/>
            <a:ext cx="2234793" cy="685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遊戲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設定目標幀率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518257" y="444855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618841" y="4160520"/>
            <a:ext cx="2234793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SDK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傳遞同步訊號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862779" y="444855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963363" y="4160520"/>
            <a:ext cx="2234793" cy="685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SurfaceFlinger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調整 Buffer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207300" y="444855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07884" y="4160520"/>
            <a:ext cx="2234793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GPU Driver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同步渲染節奏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551822" y="444855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652406" y="4160520"/>
            <a:ext cx="2234793" cy="68580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顯示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降低延遲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983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POC 實驗設計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257800"/>
            <a:ext cx="5669280" cy="13258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33095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A/B 測試方案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5623560"/>
            <a:ext cx="5486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A 組：現行機制（Baseline）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B 組：導入 SDK 同步（Experimental）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測試遊戲：王者榮耀、原神、PUBG 等 10 款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量測指標：延遲、幀率、功耗、溫度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983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建議行動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257800"/>
            <a:ext cx="5486400" cy="13258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34924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AF50"/>
                </a:solidFill>
                <a:latin typeface="Microsoft JhengHei"/>
              </a:defRPr>
            </a:pPr>
            <a:r>
              <a:t>核准 POC 開發</a:t>
            </a:r>
          </a:p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• 第 1-2 週：SDK 原型開發</a:t>
            </a:r>
          </a:p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• 第 3-4 週：整合測試與調優</a:t>
            </a:r>
          </a:p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• 第 5-6 週：10 款遊戲驗證</a:t>
            </a:r>
          </a:p>
          <a:p>
            <a:pPr>
              <a:defRPr sz="1000">
                <a:solidFill>
                  <a:srgbClr val="333333"/>
                </a:solidFill>
                <a:latin typeface="Microsoft JhengHei"/>
              </a:defRPr>
            </a:pPr>
            <a:r>
              <a:t>• 預期產出：完整評估報告與上線建議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附錄 A：系統架構與平台對比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Android 圖形系統架構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5669280" cy="8458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5443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應用層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96012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遊戲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96012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05940"/>
            <a:ext cx="5669280" cy="8458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9169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框架層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89738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SurfaceFlinger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89738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BufferQueue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743200"/>
            <a:ext cx="5669280" cy="8458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2895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HAL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283464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GPU Driver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283464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Display HAL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3680460"/>
            <a:ext cx="5669280" cy="8458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6621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硬體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77190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771900"/>
            <a:ext cx="2057400" cy="6629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Display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663440"/>
            <a:ext cx="5669280" cy="19202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7365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SDK 插入位置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0292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SDK 位於應用層，遊戲直接呼叫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透過 Binder IPC 與框架層通訊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SurfaceFlinger 調整 BufferQueue 行為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GPU Driver 根據訊號同步渲染節奏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48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PC vs 手機平台對比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868680"/>
            <a:ext cx="1828800" cy="411480"/>
          </a:xfrm>
          <a:prstGeom prst="rect">
            <a:avLst/>
          </a:prstGeom>
          <a:solidFill>
            <a:srgbClr val="2196F3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914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項目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868680"/>
            <a:ext cx="1828800" cy="411480"/>
          </a:xfrm>
          <a:prstGeom prst="rect">
            <a:avLst/>
          </a:prstGeom>
          <a:solidFill>
            <a:srgbClr val="2196F3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914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PC 平台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868680"/>
            <a:ext cx="1828800" cy="411480"/>
          </a:xfrm>
          <a:prstGeom prst="rect">
            <a:avLst/>
          </a:prstGeom>
          <a:solidFill>
            <a:srgbClr val="2196F3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9144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手機平台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28016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325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同步機制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28016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92440" y="1325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Anti-Lag SDK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128016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21240" y="13258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待開發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6916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1737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Frame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16916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1737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0-1 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169164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17373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2-3 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10312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21488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延遲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210312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21488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10-20ms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210312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21240" y="21488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50-80ms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25146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功耗控制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25146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不重要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25146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2560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關鍵指標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92608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2971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SDK 介面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46720" y="292608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92440" y="2971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成熟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75520" y="2926080"/>
            <a:ext cx="18288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21240" y="2971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33"/>
                </a:solidFill>
                <a:latin typeface="Microsoft JhengHei"/>
              </a:defRPr>
            </a:pPr>
            <a:r>
              <a:t>需設計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3474720"/>
            <a:ext cx="54864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59" y="354787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796B"/>
                </a:solidFill>
                <a:latin typeface="Microsoft JhengHei"/>
              </a:defRPr>
            </a:pPr>
            <a:r>
              <a:t>技術關鍵點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9359" y="3840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PC Anti-Lag 已驗證延遲可降低 81%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手機平台需透過 SurfaceFlinger 整合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SDK 需提供目標幀率設定介面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4983480"/>
            <a:ext cx="5486400" cy="16002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09359" y="505663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800"/>
                </a:solidFill>
                <a:latin typeface="Microsoft JhengHei"/>
              </a:defRPr>
            </a:pPr>
            <a:r>
              <a:t>風險與挑戰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59" y="5349240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遊戲需主動整合 SDK（需推廣）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不同 GPU 架構可能有差異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功耗與延遲的權衡需調優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需與各遊戲廠商合作驗證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附錄 B：POC 實驗設計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實驗組別設計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868680"/>
            <a:ext cx="5669280" cy="18288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418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4336"/>
                </a:solidFill>
                <a:latin typeface="Microsoft JhengHei"/>
              </a:defRPr>
            </a:pPr>
            <a:r>
              <a:t>A 組 (Baseline)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現行 BufferQueue 機制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無 SDK 同步介面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Frame Queue 自然堆積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作為對照基準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868680"/>
            <a:ext cx="566928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59" y="94183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CAF50"/>
                </a:solidFill>
                <a:latin typeface="Microsoft JhengHei"/>
              </a:defRPr>
            </a:pPr>
            <a:r>
              <a:t>B 組 (Experimental)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234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導入 SDK 同步機制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遊戲主動設定目標幀率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GPU 同步渲染節奏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驗證延遲改善效果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83464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測試流程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154680"/>
            <a:ext cx="2234793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環境準備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刷入測試版本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18257" y="351129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841" y="3154680"/>
            <a:ext cx="2234793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遊戲安裝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10 款熱門遊戲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62779" y="351129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63363" y="3154680"/>
            <a:ext cx="2234793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數據採集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延遲/幀率/功耗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07300" y="351129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07884" y="3154680"/>
            <a:ext cx="2234793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A/B 對比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統計顯著性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51822" y="3511296"/>
            <a:ext cx="91440" cy="109728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52406" y="3154680"/>
            <a:ext cx="2234793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報告產出</a:t>
            </a:r>
          </a:p>
          <a:p>
            <a:pPr algn="ctr">
              <a:defRPr sz="800">
                <a:solidFill>
                  <a:srgbClr val="FFFFFF"/>
                </a:solidFill>
                <a:latin typeface="Microsoft JhengHei"/>
              </a:defRPr>
            </a:pPr>
            <a:r>
              <a:t>結論與建議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量測指標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4434840"/>
            <a:ext cx="2766060" cy="9144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526279"/>
            <a:ext cx="27660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延遲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4937759"/>
            <a:ext cx="27660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JhengHei"/>
              </a:defRPr>
            </a:pPr>
            <a:r>
              <a:t>Click-to-Photon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77539" y="4434840"/>
            <a:ext cx="2766060" cy="9144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77539" y="4526279"/>
            <a:ext cx="27660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幀率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77539" y="4937759"/>
            <a:ext cx="27660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JhengHei"/>
              </a:defRPr>
            </a:pPr>
            <a:r>
              <a:t>FPS &amp; 1% 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5486400"/>
            <a:ext cx="2766060" cy="9144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5577840"/>
            <a:ext cx="27660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功耗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989320"/>
            <a:ext cx="27660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JhengHei"/>
              </a:defRPr>
            </a:pPr>
            <a:r>
              <a:t>mW (avg/peak)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77539" y="5486400"/>
            <a:ext cx="2766060" cy="9144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77539" y="5577840"/>
            <a:ext cx="27660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JhengHei"/>
              </a:defRPr>
            </a:pPr>
            <a:r>
              <a:t>溫度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7539" y="5989320"/>
            <a:ext cx="27660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  <a:latin typeface="Microsoft JhengHei"/>
              </a:defRPr>
            </a:pPr>
            <a:r>
              <a:t>CPU/GPU (°C)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1148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測試遊戲清單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434840"/>
            <a:ext cx="5486400" cy="196596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450799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10 款熱門遊戲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80060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MOBA：王者榮耀、傳說對決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射擊：PUBG、Free Fire、使命召喚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RPG：原神、崩壞：星穹鐵道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競速：極速領域、QQ 飛車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休閒：Candy Crush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附錄 C：術語解釋（有圖片版 - 6 格）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548640"/>
            <a:ext cx="3759098" cy="3063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79" y="640080"/>
            <a:ext cx="1628089" cy="1378458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F44336"/>
                </a:solidFill>
                <a:latin typeface="Microsoft JhengHei"/>
              </a:defRPr>
            </a:pPr>
            <a:r>
              <a:t>堆積</a:t>
            </a:r>
            <a:br/>
            <a:r>
              <a:t>2-3 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68169" y="640080"/>
            <a:ext cx="1628089" cy="137845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4CAF50"/>
                </a:solidFill>
                <a:latin typeface="Microsoft JhengHei"/>
              </a:defRPr>
            </a:pPr>
            <a:r>
              <a:t>維持</a:t>
            </a:r>
            <a:br/>
            <a:r>
              <a:t>0-1 幀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5289" y="1274444"/>
            <a:ext cx="137160" cy="109728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64257"/>
            <a:ext cx="35762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Frame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84298"/>
            <a:ext cx="3576218" cy="113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GPU 渲染完成但尚未顯示的畫面佇列。堆積越多，延遲越高。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6298" y="548640"/>
            <a:ext cx="3759098" cy="3063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3458" y="1467154"/>
            <a:ext cx="3484778" cy="18288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1746" y="640080"/>
            <a:ext cx="834618" cy="689229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FFFFFF"/>
                </a:solidFill>
                <a:latin typeface="Microsoft JhengHei"/>
              </a:defRPr>
            </a:pPr>
            <a:r>
              <a:t>輸入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2941" y="640080"/>
            <a:ext cx="834618" cy="689229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FFFFFF"/>
                </a:solidFill>
                <a:latin typeface="Microsoft JhengHei"/>
              </a:defRPr>
            </a:pPr>
            <a:r>
              <a:t>處理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4135" y="640080"/>
            <a:ext cx="834618" cy="689229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FFFFFF"/>
                </a:solidFill>
                <a:latin typeface="Microsoft JhengHei"/>
              </a:defRPr>
            </a:pPr>
            <a:r>
              <a:t>渲染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5330" y="640080"/>
            <a:ext cx="834618" cy="689229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00" b="1">
                <a:solidFill>
                  <a:srgbClr val="FFFFFF"/>
                </a:solidFill>
                <a:latin typeface="Microsoft JhengHei"/>
              </a:defRPr>
            </a:pPr>
            <a:r>
              <a:t>顯示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7738" y="2064257"/>
            <a:ext cx="35762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Click-to-Photon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7738" y="2384298"/>
            <a:ext cx="3576218" cy="113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從按下按鈕到畫面顯示的總延遲時間，競技遊戲目標 &lt; 30ms。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548640"/>
            <a:ext cx="3759098" cy="3063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5436" y="640080"/>
            <a:ext cx="1112824" cy="1378458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遊戲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417405" y="1292732"/>
            <a:ext cx="54864" cy="73152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81413" y="640080"/>
            <a:ext cx="1112824" cy="137845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Buffer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603382" y="1292732"/>
            <a:ext cx="54864" cy="73152"/>
          </a:xfrm>
          <a:prstGeom prst="rightArrow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667390" y="640080"/>
            <a:ext cx="1112824" cy="1378458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顯示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9716" y="2064257"/>
            <a:ext cx="35762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BufferQueue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9716" y="2384298"/>
            <a:ext cx="3576218" cy="113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Android 管理圖形緩衝區的機制，在生產者與消費者間傳遞畫面。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794760"/>
            <a:ext cx="3759098" cy="3063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79" y="3886200"/>
            <a:ext cx="3484778" cy="429006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App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79" y="4360926"/>
            <a:ext cx="3484778" cy="429006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App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79" y="4835652"/>
            <a:ext cx="3484778" cy="429006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Microsoft JhengHei"/>
              </a:defRPr>
            </a:pPr>
            <a:r>
              <a:t>合成輸出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310378"/>
            <a:ext cx="35762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SurfaceFlinger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630418"/>
            <a:ext cx="3576218" cy="113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Android 畫面合成服務，將多個應用畫面合成為最終顯示內容。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16298" y="3794760"/>
            <a:ext cx="3759098" cy="3063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53458" y="3886200"/>
            <a:ext cx="1628089" cy="1378458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F44336"/>
                </a:solidFill>
                <a:latin typeface="Microsoft JhengHei"/>
              </a:defRPr>
            </a:pPr>
            <a:r>
              <a:t>不同步</a:t>
            </a:r>
            <a:br/>
            <a:r>
              <a:t>高延遲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0147" y="3886200"/>
            <a:ext cx="1628089" cy="137845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>
                <a:solidFill>
                  <a:srgbClr val="4CAF50"/>
                </a:solidFill>
                <a:latin typeface="Microsoft JhengHei"/>
              </a:defRPr>
            </a:pPr>
            <a:r>
              <a:t>同步</a:t>
            </a:r>
            <a:br/>
            <a:r>
              <a:t>低延遲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027267" y="4520565"/>
            <a:ext cx="137160" cy="109728"/>
          </a:xfrm>
          <a:prstGeom prst="rightArrow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7738" y="5310378"/>
            <a:ext cx="35762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Anti-Lag SDK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7738" y="5630418"/>
            <a:ext cx="3576218" cy="113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PC 延遲優化技術，讓遊戲與 GPU 同步渲染節奏。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8276" y="3794760"/>
            <a:ext cx="3759098" cy="3063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24288" y="4382444"/>
            <a:ext cx="188480" cy="33082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31057" y="4134322"/>
            <a:ext cx="188480" cy="578952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37826" y="4299737"/>
            <a:ext cx="188480" cy="413537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4594" y="3968907"/>
            <a:ext cx="188480" cy="744367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5436" y="4758994"/>
            <a:ext cx="3484778" cy="50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  <a:latin typeface="Microsoft JhengHei"/>
              </a:defRPr>
            </a:pPr>
            <a:r>
              <a:t>幀率分布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9716" y="5310378"/>
            <a:ext cx="357621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1% Low FPS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9716" y="5630418"/>
            <a:ext cx="3576218" cy="1136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最差的 1% 幀率，比平均幀率更能反映卡頓程度。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Microsoft JhengHei"/>
              </a:defRPr>
            </a:pPr>
            <a:r>
              <a:t>附錄 D：術語速查表（純文字版 - 16 格）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45720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1752" y="50292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Frame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75895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GPU 渲染完成但尚未顯示的畫面佇列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083" y="45720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235" y="50292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Click-to-Photon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8235" y="75895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按下按鈕到畫面顯示的總延遲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1567" y="45720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4719" y="50292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BufferQueue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4719" y="75895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Android 圖形緩衝區管理機制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051" y="45720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71203" y="50292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SurfaceFlinger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1203" y="75895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Android 畫面合成服務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208026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212598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Anti-Lag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" y="238201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PC 平台延遲優化技術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85083" y="208026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58235" y="212598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1% Low FPS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8235" y="238201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最差 1% 幀率，衡量卡頓程度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1567" y="208026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4719" y="212598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VSync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4719" y="238201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垂直同步信號，避免畫面撕裂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051" y="208026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203" y="212598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Triple Buffering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203" y="238201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三重緩衝，平滑幀率波動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" y="370332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" y="374904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" y="400507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延遲，從輸入到輸出的時間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85083" y="370332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8235" y="374904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FPS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58235" y="400507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每秒幀數，衡量畫面流暢度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1567" y="370332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4719" y="374904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GPU Driver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4719" y="400507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顯示卡驅動程式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051" y="370332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71203" y="374904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HAL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203" y="400507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硬體抽象層，連接系統與硬體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" y="532638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" y="537210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" y="562813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管線，資料處理的連續階段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85083" y="532638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58235" y="537210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Render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58235" y="562813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渲染，將資料轉換為畫面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41567" y="532638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4719" y="537210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Buffer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4719" y="562813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緩衝區，暫存資料的記憶體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051" y="5326380"/>
            <a:ext cx="2865043" cy="15316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71203" y="5372100"/>
            <a:ext cx="27187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96F3"/>
                </a:solidFill>
                <a:latin typeface="Microsoft JhengHei"/>
              </a:defRPr>
            </a:pPr>
            <a:r>
              <a:t>Sync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71203" y="5628132"/>
            <a:ext cx="2718739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同步，協調多個元件的時序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附錄 E：原生圖表類型展示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折線圖 - 效能趨勢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868680"/>
          <a:ext cx="36576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206240" y="548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長條圖 - 遊戲對比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206240" y="868680"/>
          <a:ext cx="365760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38160" y="548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圓餅圖 - 延遲來源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38160" y="868680"/>
          <a:ext cx="3657600" cy="2560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35661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矩陣圖 - 風險評估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8404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JhengHei"/>
              </a:defRPr>
            </a:pPr>
            <a:r>
              <a:t>POC 風險評估矩陣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02919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  <a:latin typeface="Microsoft JhengHei"/>
              </a:defRPr>
            </a:pPr>
            <a:r>
              <a:t>發生機率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63550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  <a:latin typeface="Microsoft JhengHei"/>
              </a:defRPr>
            </a:pPr>
            <a:r>
              <a:t>影響程度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19" y="4160520"/>
            <a:ext cx="1493519" cy="701040"/>
          </a:xfrm>
          <a:prstGeom prst="rect">
            <a:avLst/>
          </a:prstGeom>
          <a:solidFill>
            <a:srgbClr val="F3DED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25040" y="4160520"/>
            <a:ext cx="1493519" cy="701040"/>
          </a:xfrm>
          <a:prstGeom prst="rect">
            <a:avLst/>
          </a:prstGeom>
          <a:solidFill>
            <a:srgbClr val="F9D3D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18560" y="4160520"/>
            <a:ext cx="1493519" cy="701040"/>
          </a:xfrm>
          <a:prstGeom prst="rect">
            <a:avLst/>
          </a:prstGeom>
          <a:solidFill>
            <a:srgbClr val="FFC8C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19" y="4861560"/>
            <a:ext cx="1493519" cy="701040"/>
          </a:xfrm>
          <a:prstGeom prst="rect">
            <a:avLst/>
          </a:prstGeom>
          <a:solidFill>
            <a:srgbClr val="EDE9E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25040" y="4861560"/>
            <a:ext cx="1493519" cy="701040"/>
          </a:xfrm>
          <a:prstGeom prst="rect">
            <a:avLst/>
          </a:prstGeom>
          <a:solidFill>
            <a:srgbClr val="F3DED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18560" y="4861560"/>
            <a:ext cx="1493519" cy="701040"/>
          </a:xfrm>
          <a:prstGeom prst="rect">
            <a:avLst/>
          </a:prstGeom>
          <a:solidFill>
            <a:srgbClr val="F9D3D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19" y="5562600"/>
            <a:ext cx="1493519" cy="701040"/>
          </a:xfrm>
          <a:prstGeom prst="rect">
            <a:avLst/>
          </a:prstGeom>
          <a:solidFill>
            <a:srgbClr val="E8F5E9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25040" y="5562600"/>
            <a:ext cx="1493519" cy="701040"/>
          </a:xfrm>
          <a:prstGeom prst="rect">
            <a:avLst/>
          </a:prstGeom>
          <a:solidFill>
            <a:srgbClr val="EDE9E0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8560" y="5562600"/>
            <a:ext cx="1493519" cy="701040"/>
          </a:xfrm>
          <a:prstGeom prst="rect">
            <a:avLst/>
          </a:prstGeom>
          <a:solidFill>
            <a:srgbClr val="F3DED8"/>
          </a:solidFill>
          <a:ln w="63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59" y="441960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59" y="512064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59" y="58216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6263640"/>
            <a:ext cx="1493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25040" y="6263640"/>
            <a:ext cx="1493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8560" y="6263640"/>
            <a:ext cx="149351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333333"/>
                </a:solidFill>
                <a:latin typeface="Microsoft JhengHei"/>
              </a:defRPr>
            </a:pPr>
            <a:r>
              <a:t>高</a:t>
            </a:r>
          </a:p>
        </p:txBody>
      </p:sp>
      <p:sp>
        <p:nvSpPr>
          <p:cNvPr id="28" name="Oval 27"/>
          <p:cNvSpPr/>
          <p:nvPr/>
        </p:nvSpPr>
        <p:spPr>
          <a:xfrm>
            <a:off x="2834639" y="5074919"/>
            <a:ext cx="274320" cy="274320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51759" y="5367527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333333"/>
                </a:solidFill>
                <a:latin typeface="Microsoft JhengHei"/>
              </a:defRPr>
            </a:pPr>
            <a:r>
              <a:t>SDK 整合</a:t>
            </a:r>
          </a:p>
        </p:txBody>
      </p:sp>
      <p:sp>
        <p:nvSpPr>
          <p:cNvPr id="30" name="Oval 29"/>
          <p:cNvSpPr/>
          <p:nvPr/>
        </p:nvSpPr>
        <p:spPr>
          <a:xfrm>
            <a:off x="4328159" y="5775960"/>
            <a:ext cx="274320" cy="27432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5279" y="606856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333333"/>
                </a:solidFill>
                <a:latin typeface="Microsoft JhengHei"/>
              </a:defRPr>
            </a:pPr>
            <a:r>
              <a:t>效能</a:t>
            </a:r>
          </a:p>
        </p:txBody>
      </p:sp>
      <p:sp>
        <p:nvSpPr>
          <p:cNvPr id="32" name="Oval 31"/>
          <p:cNvSpPr/>
          <p:nvPr/>
        </p:nvSpPr>
        <p:spPr>
          <a:xfrm>
            <a:off x="4328159" y="4373880"/>
            <a:ext cx="274320" cy="274320"/>
          </a:xfrm>
          <a:prstGeom prst="ellipse">
            <a:avLst/>
          </a:prstGeom>
          <a:solidFill>
            <a:srgbClr val="F4433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45279" y="4666488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333333"/>
                </a:solidFill>
                <a:latin typeface="Microsoft JhengHei"/>
              </a:defRPr>
            </a:pPr>
            <a:r>
              <a:t>廠商配合</a:t>
            </a:r>
          </a:p>
        </p:txBody>
      </p:sp>
      <p:sp>
        <p:nvSpPr>
          <p:cNvPr id="34" name="Oval 33"/>
          <p:cNvSpPr/>
          <p:nvPr/>
        </p:nvSpPr>
        <p:spPr>
          <a:xfrm>
            <a:off x="1341120" y="5074919"/>
            <a:ext cx="274320" cy="2743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58240" y="5367527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333333"/>
                </a:solidFill>
                <a:latin typeface="Microsoft JhengHei"/>
              </a:defRPr>
            </a:pPr>
            <a:r>
              <a:t>功耗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8404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196F3"/>
                </a:solidFill>
                <a:latin typeface="Microsoft JhengHei"/>
              </a:defRPr>
            </a:pPr>
            <a:r>
              <a:t>圖表類型說明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折線圖：使用 XL_CHART_TYPE.LINE_MARKERS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長條圖：使用 XL_CHART_TYPE.COLUMN_CLUSTERED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圓餅圖：使用 XL_CHART_TYPE.PIE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矩陣圖：使用 Shapes 組合繪製</a:t>
            </a:r>
          </a:p>
          <a:p>
            <a:pPr>
              <a:defRPr sz="900">
                <a:solidFill>
                  <a:srgbClr val="333333"/>
                </a:solidFill>
                <a:latin typeface="Microsoft JhengHei"/>
              </a:defRPr>
            </a:pPr>
            <a:r>
              <a:t>• 所有原生圖表可在 PowerPoint 中編輯資料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附錄 F：甘特圖與增強版架構圖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甘特圖 - POC 專案進度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icrosoft JhengHei"/>
              </a:defRPr>
            </a:pPr>
            <a:r>
              <a:t>Anti-Lag SDK POC 開發時程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88719"/>
            <a:ext cx="12920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01/06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12253" y="1188719"/>
            <a:ext cx="12920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01/13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2253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4266" y="1188719"/>
            <a:ext cx="12920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01/20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4266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6280" y="1188719"/>
            <a:ext cx="12920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01/27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96280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8293" y="1188719"/>
            <a:ext cx="12920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02/03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8293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0306" y="1188719"/>
            <a:ext cx="12920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02/10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80306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2319" y="1188719"/>
            <a:ext cx="129201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02/17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2319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64333" y="1188719"/>
            <a:ext cx="73829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616161"/>
                </a:solidFill>
                <a:latin typeface="Microsoft JhengHei"/>
              </a:defRPr>
            </a:pPr>
            <a:r>
              <a:t>02/24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64333" y="1463039"/>
            <a:ext cx="9144" cy="196596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1463039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需求分析與設計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1541678"/>
            <a:ext cx="1107439" cy="235915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920240" y="1541678"/>
            <a:ext cx="1107439" cy="235915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1856231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SDK 原型開發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12253" y="1934870"/>
            <a:ext cx="2399453" cy="235915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12253" y="1934870"/>
            <a:ext cx="1919562" cy="235915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2249424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SurfaceFlinger 整合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4266" y="2328062"/>
            <a:ext cx="2399453" cy="235915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04266" y="2328062"/>
            <a:ext cx="1199726" cy="235915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642615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整合測試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8293" y="2721254"/>
            <a:ext cx="2399453" cy="235915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088293" y="2721254"/>
            <a:ext cx="479890" cy="235915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035808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遊戲驗證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80306" y="3114446"/>
            <a:ext cx="3322320" cy="235915"/>
          </a:xfrm>
          <a:prstGeom prst="round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iamond 34"/>
          <p:cNvSpPr/>
          <p:nvPr/>
        </p:nvSpPr>
        <p:spPr>
          <a:xfrm>
            <a:off x="5520266" y="1417319"/>
            <a:ext cx="182880" cy="182880"/>
          </a:xfrm>
          <a:prstGeom prst="diamond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iamond 35"/>
          <p:cNvSpPr/>
          <p:nvPr/>
        </p:nvSpPr>
        <p:spPr>
          <a:xfrm>
            <a:off x="11611186" y="1417319"/>
            <a:ext cx="182880" cy="182880"/>
          </a:xfrm>
          <a:prstGeom prst="diamond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35661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196F3"/>
                </a:solidFill>
                <a:latin typeface="Microsoft JhengHei"/>
              </a:defRPr>
            </a:pPr>
            <a:r>
              <a:t>增強版架構圖 - Anti-Lag SDK 系統架構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3840480"/>
            <a:ext cx="1161288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0040" y="3886200"/>
            <a:ext cx="1005839" cy="73152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應用層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63040" y="3931920"/>
            <a:ext cx="3352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遊戲 App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07280" y="3931920"/>
            <a:ext cx="335280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Anti-Lag SDK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07280" y="3767328"/>
            <a:ext cx="335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FF9800"/>
                </a:solidFill>
                <a:latin typeface="Microsoft JhengHei"/>
              </a:defRPr>
            </a:pPr>
            <a:r>
              <a:t>新增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51520" y="3931920"/>
            <a:ext cx="3352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其他 App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4800600"/>
            <a:ext cx="1161288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20040" y="4846320"/>
            <a:ext cx="1005839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框架層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63040" y="4892040"/>
            <a:ext cx="3352800" cy="640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SurfaceFlinger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4727448"/>
            <a:ext cx="335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 b="1">
                <a:solidFill>
                  <a:srgbClr val="FF9800"/>
                </a:solidFill>
                <a:latin typeface="Microsoft JhengHei"/>
              </a:defRPr>
            </a:pPr>
            <a:r>
              <a:t>修改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7280" y="4892040"/>
            <a:ext cx="3352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BufferQueue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51520" y="4892040"/>
            <a:ext cx="3352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HWComposer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4320" y="5760720"/>
            <a:ext cx="11612880" cy="82296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20040" y="5806440"/>
            <a:ext cx="1005839" cy="7315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icrosoft JhengHei"/>
              </a:defRPr>
            </a:pPr>
            <a:r>
              <a:t>驅動層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63040" y="585216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GPU Driver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29400" y="585216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333333"/>
                </a:solidFill>
                <a:latin typeface="Microsoft JhengHei"/>
              </a:defRPr>
            </a:pPr>
            <a:r>
              <a:t>Display Driver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3139440" y="4572000"/>
            <a:ext cx="3535680" cy="320039"/>
          </a:xfrm>
          <a:prstGeom prst="downArrow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87240" y="46405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">
                <a:solidFill>
                  <a:srgbClr val="616161"/>
                </a:solidFill>
                <a:latin typeface="Microsoft JhengHei"/>
              </a:defRPr>
            </a:pPr>
            <a:r>
              <a:t>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